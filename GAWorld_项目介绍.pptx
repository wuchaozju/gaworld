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6" r:id="rId5"/>
    <p:sldId id="259" r:id="rId6"/>
    <p:sldId id="260" r:id="rId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社会科学驱动的群体智能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在多智能体时代，「如何组织」比「单体多强」更决定系统的上限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55096" cy="1024128"/>
          </a:xfrm>
          <a:prstGeom prst="roundRect">
            <a:avLst>
              <a:gd name="adj" fmla="val 5357"/>
            </a:avLst>
          </a:prstGeom>
          <a:solidFill>
            <a:srgbClr val="102A4C"/>
          </a:solidFill>
          <a:effectLst>
            <a:outerShdw blurRad="88900" dist="25400" dir="8100000" algn="bl" rotWithShape="0">
              <a:srgbClr val="9DB0C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27632"/>
            <a:ext cx="1045159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人类社会用 </a:t>
            </a:r>
            <a:r>
              <a:rPr lang="en-US" sz="1450" b="1" dirty="0">
                <a:solidFill>
                  <a:srgbClr val="2DD4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经济、社会、法律</a:t>
            </a:r>
            <a:r>
              <a:rPr lang="en-US" sz="1450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三套制度，把亿万独立个体组织成有序协作的群体智能。把这些组织机制迁移到多智能体系统，是设计更强 AI 群体的蓝图 —— 而 </a:t>
            </a:r>
            <a:r>
              <a:rPr lang="en-US" sz="1450" b="1" dirty="0">
                <a:solidFill>
                  <a:srgbClr val="2DD4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</a:t>
            </a:r>
            <a:r>
              <a:rPr lang="en-US" sz="1450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正是验证这一蓝图的可控实验场。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16352"/>
            <a:ext cx="3502152" cy="2542032"/>
          </a:xfrm>
          <a:prstGeom prst="roundRect">
            <a:avLst>
              <a:gd name="adj" fmla="val 215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blurRad="88900" dist="25400" dir="8100000" algn="bl" rotWithShape="0">
              <a:srgbClr val="9DB0C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090672"/>
            <a:ext cx="548640" cy="548640"/>
          </a:xfrm>
          <a:prstGeom prst="ellipse">
            <a:avLst/>
          </a:prstGeom>
          <a:solidFill>
            <a:srgbClr val="0E9488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23697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3090672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经济系统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45336" y="3419856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Economy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9536" y="3840480"/>
            <a:ext cx="2916936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D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价格、激励、分工与资源配置，让个体在稀缺约束下自主权衡。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9536" y="4572000"/>
            <a:ext cx="2916936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64515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GAWORLD 中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9536" y="4864608"/>
            <a:ext cx="291693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个税 · 五险一金 · 恩格尔消费 · 宏观周期 · 市场化工作任务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343400" y="2816352"/>
            <a:ext cx="3502152" cy="2542032"/>
          </a:xfrm>
          <a:prstGeom prst="roundRect">
            <a:avLst>
              <a:gd name="adj" fmla="val 215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blurRad="88900" dist="25400" dir="8100000" algn="bl" rotWithShape="0">
              <a:srgbClr val="9DB0C8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3090672"/>
            <a:ext cx="548640" cy="548640"/>
          </a:xfrm>
          <a:prstGeom prst="ellipse">
            <a:avLst/>
          </a:prstGeom>
          <a:solidFill>
            <a:srgbClr val="0E9488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23697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12664" y="3090672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社会系统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321808" y="3419856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Society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636008" y="3840480"/>
            <a:ext cx="2916936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D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关系、信任、规范与信息流动，孕育合作、传播与集体行为。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36008" y="4572000"/>
            <a:ext cx="2916936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36008" y="464515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GAWORLD 中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636008" y="4864608"/>
            <a:ext cx="291693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社交网络(Dunbar 分层) · 社会影响 · 偶遇链 · 干预曝光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8119872" y="2816352"/>
            <a:ext cx="3502152" cy="2542032"/>
          </a:xfrm>
          <a:prstGeom prst="roundRect">
            <a:avLst>
              <a:gd name="adj" fmla="val 215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blurRad="88900" dist="25400" dir="8100000" algn="bl" rotWithShape="0">
              <a:srgbClr val="9DB0C8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94192" y="3090672"/>
            <a:ext cx="548640" cy="548640"/>
          </a:xfrm>
          <a:prstGeom prst="ellipse">
            <a:avLst/>
          </a:prstGeom>
          <a:solidFill>
            <a:srgbClr val="0E9488"/>
          </a:solidFill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3236976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89136" y="3090672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 / 制度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9098280" y="3419856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Institutions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412480" y="3840480"/>
            <a:ext cx="2916936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D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规则、约束与公共治理，对齐个体动机与集体目标。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412480" y="4572000"/>
            <a:ext cx="2916936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12480" y="4645152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GAWORLD 中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412480" y="4864608"/>
            <a:ext cx="291693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政策事件 · 环境 / 制度扰动 · 反事实政策评估</a:t>
            </a:r>
            <a:endParaRPr lang="en-US" sz="980" dirty="0"/>
          </a:p>
        </p:txBody>
      </p:sp>
      <p:sp>
        <p:nvSpPr>
          <p:cNvPr id="34" name="Shape 29"/>
          <p:cNvSpPr/>
          <p:nvPr/>
        </p:nvSpPr>
        <p:spPr>
          <a:xfrm>
            <a:off x="566928" y="5541264"/>
            <a:ext cx="11055096" cy="896112"/>
          </a:xfrm>
          <a:prstGeom prst="roundRect">
            <a:avLst>
              <a:gd name="adj" fmla="val 6122"/>
            </a:avLst>
          </a:prstGeom>
          <a:solidFill>
            <a:srgbClr val="EAF1F9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41248" y="5788152"/>
            <a:ext cx="402336" cy="402336"/>
          </a:xfrm>
          <a:prstGeom prst="ellipse">
            <a:avLst/>
          </a:prstGeom>
          <a:solidFill>
            <a:srgbClr val="102A4C"/>
          </a:solidFill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88416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26464" y="5541264"/>
            <a:ext cx="99669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从社会制度 → 多智能体设计：</a:t>
            </a:r>
            <a:r>
              <a:rPr lang="en-US" sz="1250" dirty="0">
                <a:solidFill>
                  <a:srgbClr val="1F2D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 在可控实验场中观察制度如何塑造群体行为，再把这些组织原则反哺到多智能体系统的设计与治理。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0"/>
            <a:ext cx="1264615" cy="6858000"/>
          </a:xfrm>
          <a:prstGeom prst="rect">
            <a:avLst/>
          </a:prstGeom>
          <a:solidFill>
            <a:srgbClr val="0B1830"/>
          </a:solidFill>
        </p:spPr>
      </p:sp>
      <p:sp>
        <p:nvSpPr>
          <p:cNvPr id="3" name="Shape 1"/>
          <p:cNvSpPr/>
          <p:nvPr/>
        </p:nvSpPr>
        <p:spPr>
          <a:xfrm>
            <a:off x="10241280" y="-1280160"/>
            <a:ext cx="2926080" cy="2926080"/>
          </a:xfrm>
          <a:prstGeom prst="ellipse">
            <a:avLst/>
          </a:prstGeom>
          <a:solidFill>
            <a:srgbClr val="14B8A6">
              <a:alpha val="14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85343" y="26797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DD4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生成式多智能体仿真  ·  GENERATIVE AGENT SIMULATION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88137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 </a:t>
            </a:r>
            <a:r>
              <a:rPr lang="zh-CN" alt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</a:t>
            </a:r>
            <a:r>
              <a:rPr lang="zh-CN" alt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</a:t>
            </a:r>
            <a:endParaRPr lang="zh-CN" altLang="en-US" sz="52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513" y="1380363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</a:t>
            </a:r>
            <a:r>
              <a:rPr lang="zh-CN" altLang="en-US" sz="1900" b="1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</a:t>
            </a:r>
            <a:r>
              <a:rPr lang="en-US" sz="1900" b="1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社会行为实验的生成式多智能体仿真平台 </a:t>
            </a:r>
            <a:r>
              <a:rPr lang="en-US" sz="1900" b="1" u="sng" dirty="0">
                <a:solidFill>
                  <a:srgbClr val="C9D9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https://github.com/wuchaozju/GAWorld</a:t>
            </a:r>
            <a:endParaRPr lang="en-US" sz="1900" b="1" u="sng" dirty="0">
              <a:solidFill>
                <a:srgbClr val="C9D9F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000123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不只是“跑一群 Agent”，而是一个 </a:t>
            </a:r>
            <a:r>
              <a:rPr lang="en-US" sz="1300" b="1" dirty="0">
                <a:solidFill>
                  <a:srgbClr val="2DD4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可回放、可对照、可扩展</a:t>
            </a:r>
            <a:r>
              <a:rPr lang="en-US" sz="130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</a:t>
            </a:r>
            <a:r>
              <a:rPr lang="zh-CN" altLang="en-US" sz="130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</a:t>
            </a:r>
            <a:r>
              <a:rPr lang="en-US" sz="130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社会实验场 —— 把人物画像、长期记忆、社会影响、政策事件、经济状态与地图移动组合进统一仿真流程。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核心认知循环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79776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每天循环并累积：记忆 · 习惯 · 意图 · 关系 · 收支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54680"/>
            <a:ext cx="1781251" cy="749808"/>
          </a:xfrm>
          <a:prstGeom prst="roundRect">
            <a:avLst>
              <a:gd name="adj" fmla="val 9756"/>
            </a:avLst>
          </a:prstGeom>
          <a:solidFill>
            <a:srgbClr val="1C3460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300984"/>
            <a:ext cx="457200" cy="4572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1071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25296" y="3154680"/>
            <a:ext cx="1049731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</a:t>
            </a:r>
            <a:endParaRPr lang="en-US" sz="13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75" y="3456432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59075" y="3154680"/>
            <a:ext cx="1781251" cy="749808"/>
          </a:xfrm>
          <a:prstGeom prst="roundRect">
            <a:avLst>
              <a:gd name="adj" fmla="val 9756"/>
            </a:avLst>
          </a:prstGeom>
          <a:solidFill>
            <a:srgbClr val="1C3460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05379" y="3300984"/>
            <a:ext cx="457200" cy="4572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107" y="34107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17443" y="3154680"/>
            <a:ext cx="1049731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</a:t>
            </a:r>
            <a:endParaRPr lang="en-US" sz="13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22" y="3456432"/>
            <a:ext cx="146304" cy="1463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51222" y="3154680"/>
            <a:ext cx="1781251" cy="749808"/>
          </a:xfrm>
          <a:prstGeom prst="roundRect">
            <a:avLst>
              <a:gd name="adj" fmla="val 9756"/>
            </a:avLst>
          </a:prstGeom>
          <a:solidFill>
            <a:srgbClr val="1C3460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97526" y="3300984"/>
            <a:ext cx="457200" cy="4572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254" y="341071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09590" y="3154680"/>
            <a:ext cx="1049731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日程/动作</a:t>
            </a:r>
            <a:endParaRPr lang="en-US" sz="13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70" y="3456432"/>
            <a:ext cx="146304" cy="14630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843370" y="3154680"/>
            <a:ext cx="1781251" cy="749808"/>
          </a:xfrm>
          <a:prstGeom prst="roundRect">
            <a:avLst>
              <a:gd name="adj" fmla="val 9756"/>
            </a:avLst>
          </a:prstGeom>
          <a:solidFill>
            <a:srgbClr val="1C3460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989674" y="3300984"/>
            <a:ext cx="457200" cy="4572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402" y="341071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01738" y="3154680"/>
            <a:ext cx="1049731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</a:t>
            </a:r>
            <a:endParaRPr lang="en-US" sz="13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917" y="3456432"/>
            <a:ext cx="146304" cy="14630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35517" y="3154680"/>
            <a:ext cx="1781251" cy="749808"/>
          </a:xfrm>
          <a:prstGeom prst="roundRect">
            <a:avLst>
              <a:gd name="adj" fmla="val 9756"/>
            </a:avLst>
          </a:prstGeom>
          <a:solidFill>
            <a:srgbClr val="1C3460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081821" y="3300984"/>
            <a:ext cx="457200" cy="457200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549" y="3410712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593885" y="3154680"/>
            <a:ext cx="1049731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反思 · 记忆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566928" y="42245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主要子系统能力</a:t>
            </a:r>
            <a:endParaRPr lang="en-US" sz="1500" dirty="0"/>
          </a:p>
        </p:txBody>
      </p:sp>
      <p:sp>
        <p:nvSpPr>
          <p:cNvPr id="35" name="Shape 24"/>
          <p:cNvSpPr/>
          <p:nvPr/>
        </p:nvSpPr>
        <p:spPr>
          <a:xfrm>
            <a:off x="566928" y="4617720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713232" y="4782312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4882896"/>
            <a:ext cx="219456" cy="2194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225296" y="4745736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记忆系统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731520" y="5184648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 · 巩固 · 衰减 · 向量召回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2637130" y="4617720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2783434" y="4782312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4018" y="4882896"/>
            <a:ext cx="219456" cy="21945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3295498" y="4745736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经济仿真</a:t>
            </a:r>
            <a:endParaRPr lang="en-US" sz="1250" dirty="0"/>
          </a:p>
        </p:txBody>
      </p:sp>
      <p:sp>
        <p:nvSpPr>
          <p:cNvPr id="44" name="Text 31"/>
          <p:cNvSpPr/>
          <p:nvPr/>
        </p:nvSpPr>
        <p:spPr>
          <a:xfrm>
            <a:off x="2801722" y="5184648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个税 · 五险一金 · 宏观周期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4707331" y="4617720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4853635" y="4782312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4219" y="4882896"/>
            <a:ext cx="219456" cy="219456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365699" y="4745736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位置与出行</a:t>
            </a:r>
            <a:endParaRPr lang="en-US" sz="1250" dirty="0"/>
          </a:p>
        </p:txBody>
      </p:sp>
      <p:sp>
        <p:nvSpPr>
          <p:cNvPr id="49" name="Text 35"/>
          <p:cNvSpPr/>
          <p:nvPr/>
        </p:nvSpPr>
        <p:spPr>
          <a:xfrm>
            <a:off x="4871923" y="5184648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出行成本 · 高峰 · 天气感知</a:t>
            </a:r>
            <a:endParaRPr lang="en-US" sz="950" dirty="0"/>
          </a:p>
        </p:txBody>
      </p:sp>
      <p:sp>
        <p:nvSpPr>
          <p:cNvPr id="50" name="Shape 36"/>
          <p:cNvSpPr/>
          <p:nvPr/>
        </p:nvSpPr>
        <p:spPr>
          <a:xfrm>
            <a:off x="6777533" y="4617720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51" name="Shape 37"/>
          <p:cNvSpPr/>
          <p:nvPr/>
        </p:nvSpPr>
        <p:spPr>
          <a:xfrm>
            <a:off x="6923837" y="4782312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4421" y="4882896"/>
            <a:ext cx="219456" cy="219456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7435901" y="4745736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动态行为</a:t>
            </a:r>
            <a:endParaRPr lang="en-US" sz="1250" dirty="0"/>
          </a:p>
        </p:txBody>
      </p:sp>
      <p:sp>
        <p:nvSpPr>
          <p:cNvPr id="54" name="Text 39"/>
          <p:cNvSpPr/>
          <p:nvPr/>
        </p:nvSpPr>
        <p:spPr>
          <a:xfrm>
            <a:off x="6942125" y="5184648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中断 · 即兴 · 社交偶遇链</a:t>
            </a:r>
            <a:endParaRPr lang="en-US" sz="950" dirty="0"/>
          </a:p>
        </p:txBody>
      </p:sp>
      <p:sp>
        <p:nvSpPr>
          <p:cNvPr id="55" name="Shape 40"/>
          <p:cNvSpPr/>
          <p:nvPr/>
        </p:nvSpPr>
        <p:spPr>
          <a:xfrm>
            <a:off x="8847734" y="4617720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56" name="Shape 41"/>
          <p:cNvSpPr/>
          <p:nvPr/>
        </p:nvSpPr>
        <p:spPr>
          <a:xfrm>
            <a:off x="8994038" y="4782312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4622" y="4882896"/>
            <a:ext cx="219456" cy="219456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9506102" y="4745736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物理环境感知</a:t>
            </a:r>
            <a:endParaRPr lang="en-US" sz="1250" dirty="0"/>
          </a:p>
        </p:txBody>
      </p:sp>
      <p:sp>
        <p:nvSpPr>
          <p:cNvPr id="59" name="Text 43"/>
          <p:cNvSpPr/>
          <p:nvPr/>
        </p:nvSpPr>
        <p:spPr>
          <a:xfrm>
            <a:off x="9012326" y="5184648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拥挤 · 营业 · 异常重规划</a:t>
            </a:r>
            <a:endParaRPr lang="en-US" sz="950" dirty="0"/>
          </a:p>
        </p:txBody>
      </p:sp>
      <p:sp>
        <p:nvSpPr>
          <p:cNvPr id="60" name="Shape 44"/>
          <p:cNvSpPr/>
          <p:nvPr/>
        </p:nvSpPr>
        <p:spPr>
          <a:xfrm>
            <a:off x="566928" y="5701284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61" name="Shape 45"/>
          <p:cNvSpPr/>
          <p:nvPr/>
        </p:nvSpPr>
        <p:spPr>
          <a:xfrm>
            <a:off x="713232" y="5865876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816" y="5966460"/>
            <a:ext cx="219456" cy="219456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1225296" y="5829300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兴趣与技能成长</a:t>
            </a:r>
            <a:endParaRPr lang="en-US" sz="1250" dirty="0"/>
          </a:p>
        </p:txBody>
      </p:sp>
      <p:sp>
        <p:nvSpPr>
          <p:cNvPr id="64" name="Text 47"/>
          <p:cNvSpPr/>
          <p:nvPr/>
        </p:nvSpPr>
        <p:spPr>
          <a:xfrm>
            <a:off x="731520" y="6268212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成长画像 · 练习 · 进度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637130" y="5701284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66" name="Shape 49"/>
          <p:cNvSpPr/>
          <p:nvPr/>
        </p:nvSpPr>
        <p:spPr>
          <a:xfrm>
            <a:off x="2783434" y="5865876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4018" y="5966460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3295498" y="5829300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技能库</a:t>
            </a:r>
            <a:endParaRPr lang="en-US" sz="1250" dirty="0"/>
          </a:p>
        </p:txBody>
      </p:sp>
      <p:sp>
        <p:nvSpPr>
          <p:cNvPr id="69" name="Text 51"/>
          <p:cNvSpPr/>
          <p:nvPr/>
        </p:nvSpPr>
        <p:spPr>
          <a:xfrm>
            <a:off x="2801722" y="6268212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 · 经验自动提炼</a:t>
            </a:r>
            <a:endParaRPr lang="en-US" sz="950" dirty="0"/>
          </a:p>
        </p:txBody>
      </p:sp>
      <p:sp>
        <p:nvSpPr>
          <p:cNvPr id="70" name="Shape 52"/>
          <p:cNvSpPr/>
          <p:nvPr/>
        </p:nvSpPr>
        <p:spPr>
          <a:xfrm>
            <a:off x="4707331" y="5701284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71" name="Shape 53"/>
          <p:cNvSpPr/>
          <p:nvPr/>
        </p:nvSpPr>
        <p:spPr>
          <a:xfrm>
            <a:off x="4853635" y="5865876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4219" y="5966460"/>
            <a:ext cx="219456" cy="219456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5365699" y="5829300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真实工作任务</a:t>
            </a:r>
            <a:endParaRPr lang="en-US" sz="1250" dirty="0"/>
          </a:p>
        </p:txBody>
      </p:sp>
      <p:sp>
        <p:nvSpPr>
          <p:cNvPr id="74" name="Text 55"/>
          <p:cNvSpPr/>
          <p:nvPr/>
        </p:nvSpPr>
        <p:spPr>
          <a:xfrm>
            <a:off x="4871923" y="6268212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接单 · 产出真实产物</a:t>
            </a:r>
            <a:endParaRPr lang="en-US" sz="950" dirty="0"/>
          </a:p>
        </p:txBody>
      </p:sp>
      <p:sp>
        <p:nvSpPr>
          <p:cNvPr id="75" name="Shape 56"/>
          <p:cNvSpPr/>
          <p:nvPr/>
        </p:nvSpPr>
        <p:spPr>
          <a:xfrm>
            <a:off x="6777533" y="5701284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76" name="Shape 57"/>
          <p:cNvSpPr/>
          <p:nvPr/>
        </p:nvSpPr>
        <p:spPr>
          <a:xfrm>
            <a:off x="6923837" y="5865876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24421" y="5966460"/>
            <a:ext cx="219456" cy="219456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7435901" y="5829300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干预评估</a:t>
            </a:r>
            <a:endParaRPr lang="en-US" sz="1250" dirty="0"/>
          </a:p>
        </p:txBody>
      </p:sp>
      <p:sp>
        <p:nvSpPr>
          <p:cNvPr id="79" name="Text 59"/>
          <p:cNvSpPr/>
          <p:nvPr/>
        </p:nvSpPr>
        <p:spPr>
          <a:xfrm>
            <a:off x="6942125" y="6268212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PolicySim 风格曝光控制</a:t>
            </a:r>
            <a:endParaRPr lang="en-US" sz="950" dirty="0"/>
          </a:p>
        </p:txBody>
      </p:sp>
      <p:sp>
        <p:nvSpPr>
          <p:cNvPr id="80" name="Shape 60"/>
          <p:cNvSpPr/>
          <p:nvPr/>
        </p:nvSpPr>
        <p:spPr>
          <a:xfrm>
            <a:off x="8847734" y="5701284"/>
            <a:ext cx="1869034" cy="882396"/>
          </a:xfrm>
          <a:prstGeom prst="roundRect">
            <a:avLst>
              <a:gd name="adj" fmla="val 7254"/>
            </a:avLst>
          </a:prstGeom>
          <a:solidFill>
            <a:srgbClr val="16294A"/>
          </a:solidFill>
          <a:ln w="12700">
            <a:solidFill>
              <a:srgbClr val="2A4571"/>
            </a:solidFill>
            <a:prstDash val="solid"/>
          </a:ln>
          <a:effectLst>
            <a:outerShdw blurRad="101600" dist="38100" dir="8100000" algn="bl" rotWithShape="0">
              <a:srgbClr val="0A1830">
                <a:alpha val="18000"/>
              </a:srgbClr>
            </a:outerShdw>
          </a:effectLst>
        </p:spPr>
      </p:sp>
      <p:sp>
        <p:nvSpPr>
          <p:cNvPr id="81" name="Shape 61"/>
          <p:cNvSpPr/>
          <p:nvPr/>
        </p:nvSpPr>
        <p:spPr>
          <a:xfrm>
            <a:off x="8994038" y="5865876"/>
            <a:ext cx="420624" cy="420624"/>
          </a:xfrm>
          <a:prstGeom prst="ellipse">
            <a:avLst/>
          </a:prstGeom>
          <a:solidFill>
            <a:srgbClr val="0E2A44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2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4622" y="5966460"/>
            <a:ext cx="219456" cy="219456"/>
          </a:xfrm>
          <a:prstGeom prst="rect">
            <a:avLst/>
          </a:prstGeom>
        </p:spPr>
      </p:pic>
      <p:sp>
        <p:nvSpPr>
          <p:cNvPr id="83" name="Text 62"/>
          <p:cNvSpPr/>
          <p:nvPr/>
        </p:nvSpPr>
        <p:spPr>
          <a:xfrm>
            <a:off x="9506102" y="5829300"/>
            <a:ext cx="111922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社交网络</a:t>
            </a:r>
            <a:endParaRPr lang="en-US" sz="1250" dirty="0"/>
          </a:p>
        </p:txBody>
      </p:sp>
      <p:sp>
        <p:nvSpPr>
          <p:cNvPr id="84" name="Text 63"/>
          <p:cNvSpPr/>
          <p:nvPr/>
        </p:nvSpPr>
        <p:spPr>
          <a:xfrm>
            <a:off x="9012326" y="6268212"/>
            <a:ext cx="155813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DA4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Dunbar 分层 · 关系衰减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 与 FO</a:t>
            </a:r>
            <a:r>
              <a:rPr lang="en-US" sz="26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的协作关系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GAWorld 为中心：向下依托基座 · 横向与 FOS 协同 · 向上支撑应用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64008" cy="566928"/>
          </a:xfrm>
          <a:prstGeom prst="rect">
            <a:avLst/>
          </a:prstGeom>
          <a:solidFill>
            <a:srgbClr val="0E9488"/>
          </a:solidFill>
        </p:spPr>
      </p:sp>
      <p:sp>
        <p:nvSpPr>
          <p:cNvPr id="6" name="Text 4"/>
          <p:cNvSpPr/>
          <p:nvPr/>
        </p:nvSpPr>
        <p:spPr>
          <a:xfrm>
            <a:off x="749808" y="162763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上层应用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195681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 输出的能力所支撑的下游场景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328416"/>
            <a:ext cx="64008" cy="566928"/>
          </a:xfrm>
          <a:prstGeom prst="rect">
            <a:avLst/>
          </a:prstGeom>
          <a:solidFill>
            <a:srgbClr val="0E9488"/>
          </a:solidFill>
        </p:spPr>
      </p:sp>
      <p:sp>
        <p:nvSpPr>
          <p:cNvPr id="9" name="Text 7"/>
          <p:cNvSpPr/>
          <p:nvPr/>
        </p:nvSpPr>
        <p:spPr>
          <a:xfrm>
            <a:off x="749808" y="331012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平台与协作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63931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FOS 等智能体平台双向互补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5248656"/>
            <a:ext cx="64008" cy="566928"/>
          </a:xfrm>
          <a:prstGeom prst="rect">
            <a:avLst/>
          </a:prstGeom>
          <a:solidFill>
            <a:srgbClr val="0E9488"/>
          </a:solidFill>
        </p:spPr>
      </p:sp>
      <p:sp>
        <p:nvSpPr>
          <p:cNvPr id="12" name="Text 10"/>
          <p:cNvSpPr/>
          <p:nvPr/>
        </p:nvSpPr>
        <p:spPr>
          <a:xfrm>
            <a:off x="749808" y="52303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基座支撑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555955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社会科学理论与数据算力构成底层基座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0632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02A4C"/>
          </a:solidFill>
          <a:effectLst>
            <a:outerShdw blurRad="127000" dist="25400" dir="8100000" algn="bl" rotWithShape="0">
              <a:srgbClr val="9DB0C8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3364992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3063240"/>
            <a:ext cx="22860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4480560" y="39867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生成式多智能体社会仿真平台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83380" y="157276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blurRad="88900" dist="25400" dir="8100000" algn="bl" rotWithShape="0">
              <a:srgbClr val="9DB0C8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66260" y="1764792"/>
            <a:ext cx="365760" cy="365760"/>
          </a:xfrm>
          <a:prstGeom prst="ellipse">
            <a:avLst/>
          </a:prstGeom>
          <a:solidFill>
            <a:srgbClr val="DFF3F0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84708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86884" y="1572768"/>
            <a:ext cx="110642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政策优化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195060" y="157276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blurRad="88900" dist="25400" dir="8100000" algn="bl" rotWithShape="0">
              <a:srgbClr val="9DB0C8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77940" y="1764792"/>
            <a:ext cx="365760" cy="365760"/>
          </a:xfrm>
          <a:prstGeom prst="ellipse">
            <a:avLst/>
          </a:prstGeom>
          <a:solidFill>
            <a:srgbClr val="DFF3F0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84708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98564" y="1572768"/>
            <a:ext cx="110642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众包交易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087868" y="162763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080760" y="2395728"/>
            <a:ext cx="0" cy="667512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28" name="Shape 23"/>
          <p:cNvSpPr/>
          <p:nvPr/>
        </p:nvSpPr>
        <p:spPr>
          <a:xfrm>
            <a:off x="4183380" y="5074920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102A4C"/>
          </a:solidFill>
          <a:effectLst>
            <a:outerShdw blurRad="114300" dist="25400" dir="8100000" algn="bl" rotWithShape="0">
              <a:srgbClr val="9DB0C8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347972" y="5266944"/>
            <a:ext cx="365760" cy="365760"/>
          </a:xfrm>
          <a:prstGeom prst="ellipse">
            <a:avLst/>
          </a:prstGeom>
          <a:solidFill>
            <a:srgbClr val="16315A"/>
          </a:solidFill>
          <a:ln w="12700">
            <a:solidFill>
              <a:srgbClr val="0E9488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534924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750308" y="5074920"/>
            <a:ext cx="1143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社会科学理论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074920" y="4096512"/>
            <a:ext cx="0" cy="978408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33" name="Shape 27"/>
          <p:cNvSpPr/>
          <p:nvPr/>
        </p:nvSpPr>
        <p:spPr>
          <a:xfrm>
            <a:off x="6195060" y="5074920"/>
            <a:ext cx="2242820" cy="749935"/>
          </a:xfrm>
          <a:prstGeom prst="roundRect">
            <a:avLst>
              <a:gd name="adj" fmla="val 8537"/>
            </a:avLst>
          </a:prstGeom>
          <a:solidFill>
            <a:srgbClr val="102A4C"/>
          </a:solidFill>
          <a:effectLst>
            <a:outerShdw blurRad="114300" dist="25400" dir="8100000" algn="bl" rotWithShape="0">
              <a:srgbClr val="9DB0C8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359652" y="5266944"/>
            <a:ext cx="365760" cy="365760"/>
          </a:xfrm>
          <a:prstGeom prst="ellipse">
            <a:avLst/>
          </a:prstGeom>
          <a:solidFill>
            <a:srgbClr val="16315A"/>
          </a:solidFill>
          <a:ln w="12700">
            <a:solidFill>
              <a:srgbClr val="0E9488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5349240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762115" y="5074920"/>
            <a:ext cx="1676400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分布式</a:t>
            </a: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仿真数据 / 算力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7086600" y="4096512"/>
            <a:ext cx="0" cy="978408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38" name="Shape 31"/>
          <p:cNvSpPr/>
          <p:nvPr/>
        </p:nvSpPr>
        <p:spPr>
          <a:xfrm>
            <a:off x="9784080" y="30632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AF1F9"/>
          </a:solidFill>
          <a:ln w="25400">
            <a:solidFill>
              <a:srgbClr val="0E9488"/>
            </a:solidFill>
            <a:prstDash val="solid"/>
          </a:ln>
          <a:effectLst>
            <a:outerShdw blurRad="88900" dist="25400" dir="8100000" algn="bl" rotWithShape="0">
              <a:srgbClr val="9DB0C8">
                <a:alpha val="25000"/>
              </a:srgbClr>
            </a:outerShdw>
          </a:effectLst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3374136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460736" y="3063240"/>
            <a:ext cx="115214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A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FOS</a:t>
            </a:r>
            <a:endParaRPr lang="en-US" sz="2100" dirty="0"/>
          </a:p>
        </p:txBody>
      </p:sp>
      <p:sp>
        <p:nvSpPr>
          <p:cNvPr id="41" name="Text 33"/>
          <p:cNvSpPr/>
          <p:nvPr/>
        </p:nvSpPr>
        <p:spPr>
          <a:xfrm>
            <a:off x="9784080" y="405993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外部智能体平台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7726680" y="3337560"/>
            <a:ext cx="2011680" cy="0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7726680" y="3739896"/>
            <a:ext cx="2011680" cy="0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44" name="Text 36"/>
          <p:cNvSpPr/>
          <p:nvPr/>
        </p:nvSpPr>
        <p:spPr>
          <a:xfrm>
            <a:off x="7680960" y="300837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7680960" y="38496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理论验证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566928" y="6199632"/>
            <a:ext cx="11055096" cy="512064"/>
          </a:xfrm>
          <a:prstGeom prst="roundRect">
            <a:avLst>
              <a:gd name="adj" fmla="val 10714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68680" y="6199632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GAWorld 向下依托社会科学理论与数据算力，横向与 FOS 互补（输出 Agents · 获得理论验证），向上支撑政策优化、众包交易等社会应用。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5" y="341537"/>
            <a:ext cx="10972229" cy="7558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4400" b="1" dirty="0">
                <a:solidFill>
                  <a:srgbClr val="1A2E2A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联系我们</a:t>
            </a:r>
            <a:endParaRPr lang="zh-CN" altLang="en-US" sz="4400" b="1" dirty="0">
              <a:solidFill>
                <a:srgbClr val="1A2E2A"/>
              </a:solidFill>
              <a:latin typeface="Trebuchet MS" panose="020B0703020202090204" pitchFamily="34" charset="0"/>
              <a:ea typeface="Trebuchet MS" panose="020B0703020202090204" pitchFamily="34" charset="-122"/>
              <a:cs typeface="Trebuchet MS" panose="020B070302020209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25" y="1097401"/>
            <a:ext cx="10972229" cy="4632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dirty="0"/>
              <a:t>欢迎了解和交流更多</a:t>
            </a:r>
            <a:r>
              <a:rPr lang="en-GB" altLang="zh-CN" dirty="0"/>
              <a:t>FOS</a:t>
            </a:r>
            <a:r>
              <a:rPr lang="zh-CN" altLang="en-GB" dirty="0"/>
              <a:t>相关</a:t>
            </a:r>
            <a:r>
              <a:rPr lang="zh-CN" altLang="en-US" dirty="0"/>
              <a:t>问题</a:t>
            </a:r>
            <a:endParaRPr lang="zh-CN" dirty="0"/>
          </a:p>
        </p:txBody>
      </p:sp>
      <p:sp>
        <p:nvSpPr>
          <p:cNvPr id="25" name="Shape 2"/>
          <p:cNvSpPr/>
          <p:nvPr/>
        </p:nvSpPr>
        <p:spPr>
          <a:xfrm>
            <a:off x="774930" y="1615534"/>
            <a:ext cx="4449848" cy="4246875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3"/>
          <p:cNvSpPr/>
          <p:nvPr/>
        </p:nvSpPr>
        <p:spPr>
          <a:xfrm>
            <a:off x="711056" y="1933158"/>
            <a:ext cx="4632719" cy="365741"/>
          </a:xfrm>
          <a:prstGeom prst="rect">
            <a:avLst/>
          </a:prstGeom>
          <a:noFill/>
        </p:spPr>
        <p:txBody>
          <a:bodyPr wrap="square" lIns="338" tIns="338" rIns="338" bIns="338" rtlCol="0" anchor="t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FOS </a:t>
            </a:r>
            <a:r>
              <a:rPr lang="en-US" sz="2400" b="1" dirty="0" err="1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用户交流微信群</a:t>
            </a:r>
            <a:endParaRPr lang="en-US" sz="2400" dirty="0"/>
          </a:p>
        </p:txBody>
      </p:sp>
      <p:sp>
        <p:nvSpPr>
          <p:cNvPr id="27" name="Shape 4"/>
          <p:cNvSpPr/>
          <p:nvPr/>
        </p:nvSpPr>
        <p:spPr>
          <a:xfrm>
            <a:off x="1639489" y="2645445"/>
            <a:ext cx="2722954" cy="2722954"/>
          </a:xfrm>
          <a:prstGeom prst="rect">
            <a:avLst/>
          </a:prstGeom>
          <a:solidFill>
            <a:srgbClr val="F2F4F7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9" name="Text 6"/>
          <p:cNvSpPr/>
          <p:nvPr/>
        </p:nvSpPr>
        <p:spPr>
          <a:xfrm>
            <a:off x="835887" y="6116612"/>
            <a:ext cx="4388891" cy="487655"/>
          </a:xfrm>
          <a:prstGeom prst="rect">
            <a:avLst/>
          </a:prstGeom>
          <a:noFill/>
        </p:spPr>
        <p:txBody>
          <a:bodyPr wrap="square" lIns="338" tIns="338" rIns="338" bIns="338" rtlCol="0" anchor="t">
            <a:normAutofit/>
          </a:bodyPr>
          <a:lstStyle/>
          <a:p>
            <a:pPr marL="0" indent="0" algn="ctr">
              <a:buNone/>
            </a:pPr>
            <a:r>
              <a:rPr lang="en-US" sz="1335" dirty="0">
                <a:solidFill>
                  <a:srgbClr val="4754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扫码加入用户群，获取部署说明、使用教程和版本更新。</a:t>
            </a:r>
            <a:endParaRPr lang="en-US" sz="1335" dirty="0"/>
          </a:p>
        </p:txBody>
      </p:sp>
      <p:sp>
        <p:nvSpPr>
          <p:cNvPr id="30" name="Shape 7"/>
          <p:cNvSpPr/>
          <p:nvPr/>
        </p:nvSpPr>
        <p:spPr>
          <a:xfrm>
            <a:off x="6413437" y="1609439"/>
            <a:ext cx="4853571" cy="4246875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8"/>
          <p:cNvSpPr/>
          <p:nvPr/>
        </p:nvSpPr>
        <p:spPr>
          <a:xfrm>
            <a:off x="6634289" y="1936011"/>
            <a:ext cx="4632719" cy="365741"/>
          </a:xfrm>
          <a:prstGeom prst="rect">
            <a:avLst/>
          </a:prstGeom>
          <a:noFill/>
        </p:spPr>
        <p:txBody>
          <a:bodyPr wrap="square" lIns="338" tIns="338" rIns="338" bIns="338" rtlCol="0" anchor="t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1018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计算社会科学研究中心公众号</a:t>
            </a:r>
            <a:endParaRPr lang="en-US" sz="2400" dirty="0"/>
          </a:p>
        </p:txBody>
      </p:sp>
      <p:sp>
        <p:nvSpPr>
          <p:cNvPr id="32" name="Shape 9"/>
          <p:cNvSpPr/>
          <p:nvPr/>
        </p:nvSpPr>
        <p:spPr>
          <a:xfrm>
            <a:off x="7635166" y="2558875"/>
            <a:ext cx="2813287" cy="2813287"/>
          </a:xfrm>
          <a:prstGeom prst="rect">
            <a:avLst/>
          </a:prstGeom>
          <a:solidFill>
            <a:srgbClr val="F2F4F7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4" name="Text 11"/>
          <p:cNvSpPr/>
          <p:nvPr/>
        </p:nvSpPr>
        <p:spPr>
          <a:xfrm>
            <a:off x="6847363" y="6113436"/>
            <a:ext cx="4388891" cy="487655"/>
          </a:xfrm>
          <a:prstGeom prst="rect">
            <a:avLst/>
          </a:prstGeom>
          <a:noFill/>
        </p:spPr>
        <p:txBody>
          <a:bodyPr wrap="square" lIns="338" tIns="338" rIns="338" bIns="338" rtlCol="0" anchor="t">
            <a:normAutofit/>
          </a:bodyPr>
          <a:lstStyle/>
          <a:p>
            <a:pPr marL="0" indent="0" algn="ctr">
              <a:buNone/>
            </a:pPr>
            <a:r>
              <a:rPr lang="en-US" sz="1335" dirty="0" err="1">
                <a:solidFill>
                  <a:srgbClr val="4754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扫码关注公众号，了解中心科研进展、平台更新</a:t>
            </a:r>
            <a:endParaRPr lang="en-US" sz="1335" dirty="0">
              <a:solidFill>
                <a:srgbClr val="475467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335" dirty="0" err="1">
                <a:solidFill>
                  <a:srgbClr val="4754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和活动通知</a:t>
            </a:r>
            <a:r>
              <a:rPr lang="en-US" sz="1335" dirty="0">
                <a:solidFill>
                  <a:srgbClr val="4754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35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489" y="2654726"/>
            <a:ext cx="2757975" cy="272295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168" y="2557027"/>
            <a:ext cx="2916709" cy="2912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WPS 演示</Application>
  <PresentationFormat>On-screen Show (16:9)</PresentationFormat>
  <Paragraphs>155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Trebuchet MS</vt:lpstr>
      <vt:lpstr>Trebuchet MS</vt:lpstr>
      <vt:lpstr>Trebuchet MS</vt:lpstr>
      <vt:lpstr>Noto Sans CJK SC</vt:lpstr>
      <vt:lpstr>苹方-简</vt:lpstr>
      <vt:lpstr>Noto Sans CJK SC</vt:lpstr>
      <vt:lpstr>Noto Sans CJK SC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GAWorld 项目介绍</dc:title>
  <dc:creator>GAWorld</dc:creator>
  <dc:subject>PptxGenJS Presentation</dc:subject>
  <cp:lastModifiedBy>吴超</cp:lastModifiedBy>
  <cp:revision>4</cp:revision>
  <dcterms:created xsi:type="dcterms:W3CDTF">2026-06-21T07:57:28Z</dcterms:created>
  <dcterms:modified xsi:type="dcterms:W3CDTF">2026-06-21T07:57:28Z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27289A2E532E7160683D366A33B93A82_42</vt:lpwstr>
  </property>
  <property fmtid="{D5CDD505-2E9C-101B-9397-08002B2CF9AE}" pid="3" name="KSOProductBuildVer">
    <vt:lpwstr>2052-6.7.1.8828</vt:lpwstr>
  </property>
</Properties>
</file>