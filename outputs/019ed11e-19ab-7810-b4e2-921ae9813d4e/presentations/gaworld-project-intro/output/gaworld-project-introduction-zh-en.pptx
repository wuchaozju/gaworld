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2debb34479408d" /><Relationship Type="http://schemas.openxmlformats.org/officeDocument/2006/relationships/extended-properties" Target="/docProps/app.xml" Id="R8badf620bbda4dae" /><Relationship Type="http://schemas.openxmlformats.org/officeDocument/2006/relationships/officeDocument" Target="/ppt/presentation.xml" Id="Raccd4cce7f194f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5718ecb6b14788"/>
  </p:sldMasterIdLst>
  <p:notesMasterIdLst>
    <p:notesMasterId xmlns:r="http://schemas.openxmlformats.org/officeDocument/2006/relationships" r:id="R28c226ea80ed43bc"/>
  </p:notesMasterIdLst>
  <p:sldIdLst>
    <p:sldId xmlns:r="http://schemas.openxmlformats.org/officeDocument/2006/relationships" id="256" r:id="Rbb2a29609aed4b56"/>
    <p:sldId xmlns:r="http://schemas.openxmlformats.org/officeDocument/2006/relationships" id="257" r:id="R5d33c673f95144d5"/>
    <p:sldId xmlns:r="http://schemas.openxmlformats.org/officeDocument/2006/relationships" id="258" r:id="R0b6ff9f77cb64ba4"/>
    <p:sldId xmlns:r="http://schemas.openxmlformats.org/officeDocument/2006/relationships" id="259" r:id="R1c189924bde94530"/>
    <p:sldId xmlns:r="http://schemas.openxmlformats.org/officeDocument/2006/relationships" id="260" r:id="R283d1d867c124e89"/>
    <p:sldId xmlns:r="http://schemas.openxmlformats.org/officeDocument/2006/relationships" id="261" r:id="R30bc21914b5e410e"/>
    <p:sldId xmlns:r="http://schemas.openxmlformats.org/officeDocument/2006/relationships" id="262" r:id="R965528cc0bf643ab"/>
    <p:sldId xmlns:r="http://schemas.openxmlformats.org/officeDocument/2006/relationships" id="263" r:id="R5aa924f475a547c5"/>
    <p:sldId xmlns:r="http://schemas.openxmlformats.org/officeDocument/2006/relationships" id="264" r:id="R211ad441c762407a"/>
    <p:sldId xmlns:r="http://schemas.openxmlformats.org/officeDocument/2006/relationships" id="265" r:id="R61e8cc704173481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1f4b04698b495a" /><Relationship Type="http://schemas.openxmlformats.org/officeDocument/2006/relationships/slideMaster" Target="/ppt/slideMasters/slideMaster1.xml" Id="R515718ecb6b14788" /><Relationship Type="http://schemas.openxmlformats.org/officeDocument/2006/relationships/notesMaster" Target="/ppt/notesMasters/notesMaster1.xml" Id="R28c226ea80ed43bc" /><Relationship Type="http://schemas.openxmlformats.org/officeDocument/2006/relationships/presProps" Target="/ppt/presProps.xml" Id="R6562f2a67aaa40e6" /><Relationship Type="http://schemas.openxmlformats.org/officeDocument/2006/relationships/viewProps" Target="/ppt/viewProps.xml" Id="R4f53c3dae9d844ff" /><Relationship Type="http://schemas.openxmlformats.org/officeDocument/2006/relationships/tableStyles" Target="/ppt/tableStyles.xml" Id="R763b0cfbeede4ee9" /><Relationship Type="http://schemas.openxmlformats.org/officeDocument/2006/relationships/slide" Target="/ppt/slides/slide1.xml" Id="Rbb2a29609aed4b56" /><Relationship Type="http://schemas.openxmlformats.org/officeDocument/2006/relationships/slide" Target="/ppt/slides/slide2.xml" Id="R5d33c673f95144d5" /><Relationship Type="http://schemas.openxmlformats.org/officeDocument/2006/relationships/slide" Target="/ppt/slides/slide3.xml" Id="R0b6ff9f77cb64ba4" /><Relationship Type="http://schemas.openxmlformats.org/officeDocument/2006/relationships/slide" Target="/ppt/slides/slide4.xml" Id="R1c189924bde94530" /><Relationship Type="http://schemas.openxmlformats.org/officeDocument/2006/relationships/slide" Target="/ppt/slides/slide5.xml" Id="R283d1d867c124e89" /><Relationship Type="http://schemas.openxmlformats.org/officeDocument/2006/relationships/slide" Target="/ppt/slides/slide6.xml" Id="R30bc21914b5e410e" /><Relationship Type="http://schemas.openxmlformats.org/officeDocument/2006/relationships/slide" Target="/ppt/slides/slide7.xml" Id="R965528cc0bf643ab" /><Relationship Type="http://schemas.openxmlformats.org/officeDocument/2006/relationships/slide" Target="/ppt/slides/slide8.xml" Id="R5aa924f475a547c5" /><Relationship Type="http://schemas.openxmlformats.org/officeDocument/2006/relationships/slide" Target="/ppt/slides/slide9.xml" Id="R211ad441c762407a" /><Relationship Type="http://schemas.openxmlformats.org/officeDocument/2006/relationships/slide" Target="/ppt/slides/slide10.xml" Id="R61e8cc70417348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b4f1bd023148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35c895453747e0" /><Relationship Type="http://schemas.openxmlformats.org/officeDocument/2006/relationships/notesMaster" Target="/ppt/notesMasters/notesMaster1.xml" Id="R1c29d67926054a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81cee14cec4f20" /><Relationship Type="http://schemas.openxmlformats.org/officeDocument/2006/relationships/notesMaster" Target="/ppt/notesMasters/notesMaster1.xml" Id="Rd03696627c8c4e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bd413a95f8d424b" /><Relationship Type="http://schemas.openxmlformats.org/officeDocument/2006/relationships/notesMaster" Target="/ppt/notesMasters/notesMaster1.xml" Id="R79cd9be7e0b946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f542f708f34311" /><Relationship Type="http://schemas.openxmlformats.org/officeDocument/2006/relationships/notesMaster" Target="/ppt/notesMasters/notesMaster1.xml" Id="R9753138e7ce54e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4a133fcf7f4a1a" /><Relationship Type="http://schemas.openxmlformats.org/officeDocument/2006/relationships/notesMaster" Target="/ppt/notesMasters/notesMaster1.xml" Id="Re13d09496edf414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4571235fd2425d" /><Relationship Type="http://schemas.openxmlformats.org/officeDocument/2006/relationships/notesMaster" Target="/ppt/notesMasters/notesMaster1.xml" Id="R117528a309ce43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160250094a4ff5" /><Relationship Type="http://schemas.openxmlformats.org/officeDocument/2006/relationships/notesMaster" Target="/ppt/notesMasters/notesMaster1.xml" Id="Rcb7870d459f541d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9c2442a2e9843a8" /><Relationship Type="http://schemas.openxmlformats.org/officeDocument/2006/relationships/notesMaster" Target="/ppt/notesMasters/notesMaster1.xml" Id="Ra52fecde907640b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278b7c25c7e4ef6" /><Relationship Type="http://schemas.openxmlformats.org/officeDocument/2006/relationships/notesMaster" Target="/ppt/notesMasters/notesMaster1.xml" Id="R6806810ee89b41e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387e7141b1e44c8" /><Relationship Type="http://schemas.openxmlformats.org/officeDocument/2006/relationships/notesMaster" Target="/ppt/notesMasters/notesMaster1.xml" Id="R8f63bcb47d8b4c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199f88089f44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13deb7f5f04a65" /><Relationship Type="http://schemas.openxmlformats.org/officeDocument/2006/relationships/slideLayout" Target="/ppt/slideLayouts/slideLayout1.xml" Id="R337311ea377a40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7311ea377a40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c371a9481c46cb" /><Relationship Type="http://schemas.openxmlformats.org/officeDocument/2006/relationships/notesSlide" Target="/ppt/notesSlides/notesSlide1.xml" Id="R38fdc33312ef44d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032e25402e41cd" /><Relationship Type="http://schemas.openxmlformats.org/officeDocument/2006/relationships/notesSlide" Target="/ppt/notesSlides/notesSlide2.xml" Id="Re9e39aab8f7940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b732d5f8ea47e4" /><Relationship Type="http://schemas.openxmlformats.org/officeDocument/2006/relationships/notesSlide" Target="/ppt/notesSlides/notesSlide3.xml" Id="R12e40a17f28844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fcf427cd374626" /><Relationship Type="http://schemas.openxmlformats.org/officeDocument/2006/relationships/notesSlide" Target="/ppt/notesSlides/notesSlide4.xml" Id="Rce68a372ab6541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3975a4f4c34a06" /><Relationship Type="http://schemas.openxmlformats.org/officeDocument/2006/relationships/notesSlide" Target="/ppt/notesSlides/notesSlide5.xml" Id="R7969717131d149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f1497df9ff493c" /><Relationship Type="http://schemas.openxmlformats.org/officeDocument/2006/relationships/notesSlide" Target="/ppt/notesSlides/notesSlide6.xml" Id="Rc72d685c5f15462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7dccb5e9e64f6d" /><Relationship Type="http://schemas.openxmlformats.org/officeDocument/2006/relationships/notesSlide" Target="/ppt/notesSlides/notesSlide7.xml" Id="Rad1c3ef6c44149c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3f3a165aea45b7" /><Relationship Type="http://schemas.openxmlformats.org/officeDocument/2006/relationships/notesSlide" Target="/ppt/notesSlides/notesSlide8.xml" Id="R96d2679fc238482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6d5a8789344ac7" /><Relationship Type="http://schemas.openxmlformats.org/officeDocument/2006/relationships/notesSlide" Target="/ppt/notesSlides/notesSlide9.xml" Id="R3e8d6defcf14442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d6dd25b2424c00" /><Relationship Type="http://schemas.openxmlformats.org/officeDocument/2006/relationships/notesSlide" Target="/ppt/notesSlides/notesSlide10.xml" Id="Ra2149eb26f5e4a8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E88E0B-8A61-43A6-B205-235ECC3C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3C2F031-31B9-4898-AEAD-18BAC124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B7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4A5E7D1-B8DE-42CD-8D94-7E72DBA9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DDC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8DDCF"/>
                </a:solidFill>
                <a:latin typeface="Aptos"/>
                <a:ea typeface="Aptos"/>
                <a:cs typeface="Aptos"/>
              </a:rPr>
              <a:t>GAWORLD / 城市社会行为实验平台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E89841-F438-490A-A690-ACECA0ADB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B8C1C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B8C1C8"/>
                </a:solidFill>
                <a:latin typeface="Aptos"/>
                <a:ea typeface="Aptos"/>
                <a:cs typeface="Aptos"/>
              </a:rPr>
              <a:t>Sources: README.zh-CN.md; docs/EXPERIMENTS_REPORT.md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D6EFC9-CFBB-4708-A853-8C954084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8C1C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8C1C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E8AF11-3F44-4A50-A743-AB81A510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590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7F1E7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F7F1E7"/>
                </a:solidFill>
                <a:latin typeface="Aptos Display"/>
                <a:ea typeface="Aptos Display"/>
                <a:cs typeface="Aptos Display"/>
              </a:rPr>
              <a:t>GAWorld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6FC590-CEB9-4FE1-BF59-E81EA16A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6572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1E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7F1E7"/>
                </a:solidFill>
                <a:latin typeface="PingFang SC"/>
                <a:ea typeface="PingFang SC"/>
                <a:cs typeface="PingFang SC"/>
              </a:rPr>
              <a:t>可控、可回放、可对照的生成式多智能体城市仿真平台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EC5C0F-1C6A-4800-BCCE-D4F4DDBB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619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0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FC0CA"/>
                </a:solidFill>
                <a:latin typeface="Aptos"/>
                <a:ea typeface="Aptos"/>
                <a:cs typeface="Aptos"/>
              </a:rPr>
              <a:t>A controllable social experiment sandbox for urban agents, policy shocks, memory, mobility, economy and social influence.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E75A63-AFEB-47B5-AC53-C6F0F209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495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B7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E1CEC8-C2CC-4ED0-BC7D-9B09B66D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533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8DDC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E8DDCF"/>
                </a:solidFill>
                <a:latin typeface="PingFang SC"/>
                <a:ea typeface="PingFang SC"/>
                <a:cs typeface="PingFang SC"/>
              </a:rPr>
              <a:t>不是“跑一群 Agent”的演示，而是把同一批智能体放入不同事件条件下，生成可比较的行为轨迹与实验证据。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BB5D56-4ECF-49C1-8A31-4D790CFE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876300"/>
            <a:ext cx="33147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631"/>
          </a:solidFill>
          <a:ln xmlns:a="http://schemas.openxmlformats.org/drawingml/2006/main" w="9525">
            <a:solidFill>
              <a:srgbClr val="2D445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A2794B-0058-4B71-BC04-4E3F9DD5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2763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7B7A7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37B7A7"/>
                </a:solidFill>
                <a:latin typeface="Aptos Display"/>
                <a:ea typeface="Aptos Display"/>
                <a:cs typeface="Aptos Display"/>
              </a:rPr>
              <a:t>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CB2DD3-41AA-4CB7-99F0-33415D58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764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1E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7F1E7"/>
                </a:solidFill>
                <a:latin typeface="PingFang SC"/>
                <a:ea typeface="PingFang SC"/>
                <a:cs typeface="PingFang SC"/>
              </a:rPr>
              <a:t>注册实验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0514B1-82ED-4395-8000-E546C455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240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AFC0C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AFC0CA"/>
                </a:solidFill>
                <a:latin typeface="Aptos"/>
                <a:ea typeface="Aptos"/>
                <a:cs typeface="Aptos"/>
              </a:rPr>
              <a:t>ExperimentRegistry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3DBDC6-FBC9-4618-BA60-7CB1D7372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479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D9923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D9923B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E3B89F-8DBF-47AC-9694-1B3C5BDCE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480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1E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7F1E7"/>
                </a:solidFill>
                <a:latin typeface="PingFang SC"/>
                <a:ea typeface="PingFang SC"/>
                <a:cs typeface="PingFang SC"/>
              </a:rPr>
              <a:t>已完成运行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EEE044-51DE-4AF8-9AF3-CB8A93C4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956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AFC0C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AFC0CA"/>
                </a:solidFill>
                <a:latin typeface="Aptos"/>
                <a:ea typeface="Aptos"/>
                <a:cs typeface="Aptos"/>
              </a:rPr>
              <a:t>reported completed modules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5BFAD2-1F91-45B0-BD37-B91BBC84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195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6B8FB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6B8FBF"/>
                </a:solidFill>
                <a:latin typeface="Aptos Display"/>
                <a:ea typeface="Aptos Display"/>
                <a:cs typeface="Aptos Display"/>
              </a:rPr>
              <a:t>21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39FB4E-0F48-447A-A314-30E23FA4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196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1E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7F1E7"/>
                </a:solidFill>
                <a:latin typeface="PingFang SC"/>
                <a:ea typeface="PingFang SC"/>
                <a:cs typeface="PingFang SC"/>
              </a:rPr>
              <a:t>核心连续指标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513704-A9AF-4D29-BE31-00BE7260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672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AFC0C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AFC0CA"/>
                </a:solidFill>
                <a:latin typeface="Aptos"/>
                <a:ea typeface="Aptos"/>
                <a:cs typeface="Aptos"/>
              </a:rPr>
              <a:t>emotion / stress / mobility...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AC54DA-07E2-42F1-BFC4-210F0AB4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276350"/>
            <a:ext cx="9715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7F1E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7F1E7"/>
                </a:solidFill>
                <a:latin typeface="PingFang SC"/>
                <a:ea typeface="PingFang SC"/>
                <a:cs typeface="PingFang SC"/>
              </a:rPr>
              <a:t>同一城市</a:t>
            </a:r>
          </a:p>
          <a:p xmlns:a="http://schemas.openxmlformats.org/drawingml/2006/main">
            <a:pPr algn="ctr">
              <a:defRPr sz="1800" b="1">
                <a:solidFill>
                  <a:srgbClr val="F7F1E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7F1E7"/>
                </a:solidFill>
                <a:latin typeface="PingFang SC"/>
                <a:ea typeface="PingFang SC"/>
                <a:cs typeface="PingFang SC"/>
              </a:rPr>
              <a:t>同一批人</a:t>
            </a:r>
          </a:p>
          <a:p xmlns:a="http://schemas.openxmlformats.org/drawingml/2006/main">
            <a:pPr algn="ctr">
              <a:defRPr sz="1800" b="1">
                <a:solidFill>
                  <a:srgbClr val="F7F1E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7F1E7"/>
                </a:solidFill>
                <a:latin typeface="PingFang SC"/>
                <a:ea typeface="PingFang SC"/>
                <a:cs typeface="PingFang SC"/>
              </a:rPr>
              <a:t>不同政策</a:t>
            </a:r>
          </a:p>
          <a:p xmlns:a="http://schemas.openxmlformats.org/drawingml/2006/main">
            <a:pPr algn="ctr">
              <a:defRPr sz="1800" b="1">
                <a:solidFill>
                  <a:srgbClr val="F7F1E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7F1E7"/>
                </a:solidFill>
                <a:latin typeface="PingFang SC"/>
                <a:ea typeface="PingFang SC"/>
                <a:cs typeface="PingFang SC"/>
              </a:rPr>
              <a:t>可复现对照</a:t>
            </a:r>
          </a:p>
        </p:txBody>
      </p:sp>
    </p:spTree>
    <p:extLst>
      <p:ext uri="{BB962C8B-B14F-4D97-AF65-F5344CB8AC3E}">
        <p14:creationId xmlns:p14="http://schemas.microsoft.com/office/powerpoint/2010/main" val="168662559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5F3522-BC43-49C6-B4D3-BDCA42F1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73A0FDB-0195-487B-8D84-90F5C5E9A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B7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6701F85-E0AF-4B3D-B412-6A37FE3D6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DDC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8DDCF"/>
                </a:solidFill>
                <a:latin typeface="Aptos"/>
                <a:ea typeface="Aptos"/>
                <a:cs typeface="Aptos"/>
              </a:rPr>
              <a:t>POSITIONING / 为什么需要 GAWorld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AD448E-70B5-4538-A1A9-18E47547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B8C1C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B8C1C8"/>
                </a:solidFill>
                <a:latin typeface="Aptos"/>
                <a:ea typeface="Aptos"/>
                <a:cs typeface="Aptos"/>
              </a:rPr>
              <a:t>Sources: README.zh-CN.md; README.md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11C9E2-448A-4451-962B-C4C74E1C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8C1C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8C1C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1E16C9-6A0C-43FB-86E5-2096BF98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1028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1E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7F1E7"/>
                </a:solidFill>
                <a:latin typeface="PingFang SC"/>
                <a:ea typeface="PingFang SC"/>
                <a:cs typeface="PingFang SC"/>
              </a:rPr>
              <a:t>它补上了“玩具 Agent”和“可审计社会实验”之间的缺口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C891CC-50C9-4648-A306-FFD3C14F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62100"/>
            <a:ext cx="990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FC0C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FC0CA"/>
                </a:solidFill>
                <a:latin typeface="Aptos"/>
                <a:ea typeface="Aptos"/>
                <a:cs typeface="Aptos"/>
              </a:rPr>
              <a:t>GAWorld bridges toy agents and auditable policy experiments.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25A5E8-47E1-47E4-A9BE-2F1336E24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30480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D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A4D3A1-6C85-4582-8D4A-A413F80A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8F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FC723F-304B-4DCA-AE44-E75936D1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257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252E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C252E"/>
                </a:solidFill>
                <a:latin typeface="PingFang SC"/>
                <a:ea typeface="PingFang SC"/>
                <a:cs typeface="PingFang SC"/>
              </a:rPr>
              <a:t>传统 ABM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0BCC16-D2FB-4545-80A1-7D7FDD8F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2524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C252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C252E"/>
                </a:solidFill>
                <a:latin typeface="PingFang SC"/>
                <a:ea typeface="PingFang SC"/>
                <a:cs typeface="PingFang SC"/>
              </a:rPr>
              <a:t>规则透明，但人物真实感弱；难以表达记忆、语言、关系与日常选择。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48EE2F-B824-4065-88A6-86B26768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86250"/>
            <a:ext cx="2524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D68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6873"/>
                </a:solidFill>
                <a:latin typeface="Aptos"/>
                <a:ea typeface="Aptos"/>
                <a:cs typeface="Aptos"/>
              </a:rPr>
              <a:t>Rule-based clarity, limited human texture.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9477C4-4D37-44CD-AB89-19F01A0E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38375"/>
            <a:ext cx="30480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D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F2D126-5943-4E13-99C9-EC8EF063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38375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2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876CAB-0C2C-447C-AF6A-5CAFF57C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52700"/>
            <a:ext cx="257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252E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C252E"/>
                </a:solidFill>
                <a:latin typeface="PingFang SC"/>
                <a:ea typeface="PingFang SC"/>
                <a:cs typeface="PingFang SC"/>
              </a:rPr>
              <a:t>LLM Agent Demo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E82540-8C12-4848-8E57-7AB0B613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62300"/>
            <a:ext cx="2524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C252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C252E"/>
                </a:solidFill>
                <a:latin typeface="PingFang SC"/>
                <a:ea typeface="PingFang SC"/>
                <a:cs typeface="PingFang SC"/>
              </a:rPr>
              <a:t>行为生动，但难以复现、对照和量化；输出常停留在故事层。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0700D7-42AE-4268-A241-2A8308B4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86250"/>
            <a:ext cx="2524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D68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6873"/>
                </a:solidFill>
                <a:latin typeface="Aptos"/>
                <a:ea typeface="Aptos"/>
                <a:cs typeface="Aptos"/>
              </a:rPr>
              <a:t>Expressive, but weak on reproducibility and metrics.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4E2DC5-735E-4314-A6B9-59216BE9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38375"/>
            <a:ext cx="30480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C81CFD-A2F7-4B49-A02C-7B5A819A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38375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B7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ED7BA0-B5D1-4089-BFFC-A11430A1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52700"/>
            <a:ext cx="257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252E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C252E"/>
                </a:solidFill>
                <a:latin typeface="PingFang SC"/>
                <a:ea typeface="PingFang SC"/>
                <a:cs typeface="PingFang SC"/>
              </a:rPr>
              <a:t>GAWorld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8E25AF-DE98-4B94-8C9C-5A956188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62300"/>
            <a:ext cx="2524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C252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C252E"/>
                </a:solidFill>
                <a:latin typeface="PingFang SC"/>
                <a:ea typeface="PingFang SC"/>
                <a:cs typeface="PingFang SC"/>
              </a:rPr>
              <a:t>把 profile、记忆、经济、地图、政策和日志统一到可回放实验流程。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3061CD-4E20-46DC-A23C-171FACE6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86250"/>
            <a:ext cx="2524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D68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6873"/>
                </a:solidFill>
                <a:latin typeface="Aptos"/>
                <a:ea typeface="Aptos"/>
                <a:cs typeface="Aptos"/>
              </a:rPr>
              <a:t>Replayable counterfactual workflow with measurable state.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F86818-6D20-4F65-95A6-B0E76E81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29250"/>
            <a:ext cx="1009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DDC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E8DDCF"/>
                </a:solidFill>
                <a:latin typeface="PingFang SC"/>
                <a:ea typeface="PingFang SC"/>
                <a:cs typeface="PingFang SC"/>
              </a:rPr>
              <a:t>核心判断 / Core judgment: 仿真价值不只来自单次行为生成，而来自可被重复、干预、比较和追责的运行边界。</a:t>
            </a:r>
          </a:p>
        </p:txBody>
      </p:sp>
    </p:spTree>
    <p:extLst>
      <p:ext uri="{BB962C8B-B14F-4D97-AF65-F5344CB8AC3E}">
        <p14:creationId xmlns:p14="http://schemas.microsoft.com/office/powerpoint/2010/main" val="12600082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17CBF3-3815-4090-9158-5126021A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120A7E2-AA01-4141-A44C-B4FD8247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B7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993DE3A-AB31-4C45-AEC5-21184CE8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DDC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8DDCF"/>
                </a:solidFill>
                <a:latin typeface="Aptos"/>
                <a:ea typeface="Aptos"/>
                <a:cs typeface="Aptos"/>
              </a:rPr>
              <a:t>CORE LOOP / Agent 认知循环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EB8B82-714B-438A-8407-5DE7A982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B8C1C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B8C1C8"/>
                </a:solidFill>
                <a:latin typeface="Aptos"/>
                <a:ea typeface="Aptos"/>
                <a:cs typeface="Aptos"/>
              </a:rPr>
              <a:t>Sources: README.zh-CN.md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A717D1-C244-42B5-98BA-1DADDB01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8C1C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8C1C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EB0302-238E-4105-A6DA-281E0E18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1028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1E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7F1E7"/>
                </a:solidFill>
                <a:latin typeface="PingFang SC"/>
                <a:ea typeface="PingFang SC"/>
                <a:cs typeface="PingFang SC"/>
              </a:rPr>
              <a:t>每个智能体都在同一个可回放循环里积累状态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10740A-0E55-4124-922F-5F541F6D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62100"/>
            <a:ext cx="990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FC0C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FC0CA"/>
                </a:solidFill>
                <a:latin typeface="Aptos"/>
                <a:ea typeface="Aptos"/>
                <a:cs typeface="Aptos"/>
              </a:rPr>
              <a:t>A replayable cognitive loop accumulates memory, relationships and finance across days.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2CDDE1-58F3-43FA-9F3C-A5648870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140970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B7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40ADB1-D0FC-4BA7-A509-203E83C3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7170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感知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0DF495-BDE9-437E-AC55-A14CD33C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45745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EDF4F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EDF4F5"/>
                </a:solidFill>
                <a:latin typeface="Aptos"/>
                <a:ea typeface="Aptos"/>
                <a:cs typeface="Aptos"/>
              </a:rPr>
              <a:t>Perception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E5441D-8A68-4AD7-80E4-04579E74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857500"/>
            <a:ext cx="140970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2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ACA4C5-4C6A-4A46-8555-38708DE6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0289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计划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904596-A57D-487B-B177-C4BDD6CD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31470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EDF4F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EDF4F5"/>
                </a:solidFill>
                <a:latin typeface="Aptos"/>
                <a:ea typeface="Aptos"/>
                <a:cs typeface="Aptos"/>
              </a:rPr>
              <a:t>Planning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51E0E5-8ACC-4DA0-96B2-F8409853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95800"/>
            <a:ext cx="140970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8F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25462A-8CF2-4FD1-BDD8-9343F094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672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日程 / 动作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9EFDBC-C587-4AAC-BEFE-8220152B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95300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EDF4F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EDF4F5"/>
                </a:solidFill>
                <a:latin typeface="Aptos"/>
                <a:ea typeface="Aptos"/>
                <a:cs typeface="Aptos"/>
              </a:rPr>
              <a:t>Routine &amp; 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2CCB6A-00CD-492B-BAD0-EDC361E0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495800"/>
            <a:ext cx="140970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A8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4D54A6-C013-4DFC-8CFA-53FA3D9F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6672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执行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3E1AEF-B20E-46A8-8AB9-BA1F393D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95300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EDF4F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EDF4F5"/>
                </a:solidFill>
                <a:latin typeface="Aptos"/>
                <a:ea typeface="Aptos"/>
                <a:cs typeface="Aptos"/>
              </a:rPr>
              <a:t>Execution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3AF106-BB4B-4A4B-B00C-A8429DC7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57500"/>
            <a:ext cx="140970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5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8B28A0-98D7-4C69-8A9D-AE458289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289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反思 / 记忆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B304C1-C037-4D2C-AA18-3AE83D00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31470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EDF4F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EDF4F5"/>
                </a:solidFill>
                <a:latin typeface="Aptos"/>
                <a:ea typeface="Aptos"/>
                <a:cs typeface="Aptos"/>
              </a:rPr>
              <a:t>Reflection &amp; Memory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27D70A-C63B-4DAE-9D89-032F5FB5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717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D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4EECA7-EE8C-4D0D-A1E7-17EAC642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05250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D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8E632E-4D62-4A2E-A8B5-29CC3C431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8768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D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625412-B3EF-42DA-96F7-66237A27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905250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D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419DE9-0235-4BCB-A82E-2603D9E7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D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458365-44B7-4ACC-AA8A-59343A66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2190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6390C1-A4CC-4A90-AA04-750C0F9E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B7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DA32DD-1226-4EE1-A25B-7E85223F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C252E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C252E"/>
                </a:solidFill>
                <a:latin typeface="PingFang SC"/>
                <a:ea typeface="PingFang SC"/>
                <a:cs typeface="PingFang SC"/>
              </a:rPr>
              <a:t>跨天累积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2631B7-643C-4D12-8ADF-4A4F3F15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051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C25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C252E"/>
                </a:solidFill>
                <a:latin typeface="PingFang SC"/>
                <a:ea typeface="PingFang SC"/>
                <a:cs typeface="PingFang SC"/>
              </a:rPr>
              <a:t>episode 记忆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68EDF7-62A9-49FF-854F-D6115EDD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C25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C252E"/>
                </a:solidFill>
                <a:latin typeface="PingFang SC"/>
                <a:ea typeface="PingFang SC"/>
                <a:cs typeface="PingFang SC"/>
              </a:rPr>
              <a:t>长期总结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1DD639-F7F2-4F7B-8FA9-5B4A0BFF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528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C25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C252E"/>
                </a:solidFill>
                <a:latin typeface="PingFang SC"/>
                <a:ea typeface="PingFang SC"/>
                <a:cs typeface="PingFang SC"/>
              </a:rPr>
              <a:t>习惯与意图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115EF5-FDD5-47CD-A8C6-A2CCF1D5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767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C25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C252E"/>
                </a:solidFill>
                <a:latin typeface="PingFang SC"/>
                <a:ea typeface="PingFang SC"/>
                <a:cs typeface="PingFang SC"/>
              </a:rPr>
              <a:t>关系变化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DD1140-A766-4563-AD56-49385224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005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C25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C252E"/>
                </a:solidFill>
                <a:latin typeface="PingFang SC"/>
                <a:ea typeface="PingFang SC"/>
                <a:cs typeface="PingFang SC"/>
              </a:rPr>
              <a:t>收支与资产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5A6FFE-F647-4537-BF8F-2AB6AB94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28850"/>
            <a:ext cx="2286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9C79E1F-8C12-42A4-8441-3030F158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28850"/>
            <a:ext cx="228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2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1585DFE-B1A7-48B8-A99C-4FE3D20E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527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C252E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C252E"/>
                </a:solidFill>
                <a:latin typeface="PingFang SC"/>
                <a:ea typeface="PingFang SC"/>
                <a:cs typeface="PingFang SC"/>
              </a:rPr>
              <a:t>实验可观测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587598B-60EF-447F-B4AF-CB1C8E88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051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C25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C252E"/>
                </a:solidFill>
                <a:latin typeface="PingFang SC"/>
                <a:ea typeface="PingFang SC"/>
                <a:cs typeface="PingFang SC"/>
              </a:rPr>
              <a:t>轨迹 trace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7303107-4681-4583-B273-E5390BE4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290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C25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C252E"/>
                </a:solidFill>
                <a:latin typeface="PingFang SC"/>
                <a:ea typeface="PingFang SC"/>
                <a:cs typeface="PingFang SC"/>
              </a:rPr>
              <a:t>日志 logs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C9575D5-F567-449C-9819-A94A2B06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7528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C25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C252E"/>
                </a:solidFill>
                <a:latin typeface="PingFang SC"/>
                <a:ea typeface="PingFang SC"/>
                <a:cs typeface="PingFang SC"/>
              </a:rPr>
              <a:t>访谈 interview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FE865A6-7CC3-4DD6-8C04-A6A08D54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0767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C25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C252E"/>
                </a:solidFill>
                <a:latin typeface="PingFang SC"/>
                <a:ea typeface="PingFang SC"/>
                <a:cs typeface="PingFang SC"/>
              </a:rPr>
              <a:t>记忆文件 memory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DE91CD1-D3FB-48EF-875B-BAD8A7A3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4005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C25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C252E"/>
                </a:solidFill>
                <a:latin typeface="PingFang SC"/>
                <a:ea typeface="PingFang SC"/>
                <a:cs typeface="PingFang SC"/>
              </a:rPr>
              <a:t>指标 CSV</a:t>
            </a:r>
          </a:p>
        </p:txBody>
      </p:sp>
    </p:spTree>
    <p:extLst>
      <p:ext uri="{BB962C8B-B14F-4D97-AF65-F5344CB8AC3E}">
        <p14:creationId xmlns:p14="http://schemas.microsoft.com/office/powerpoint/2010/main" val="108609133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223D67-87FE-4228-B922-51738406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C364CAB-2E33-464D-8E60-43155B91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B7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176CB52-1F01-4DD2-A56D-DD16CB2C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DDC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8DDCF"/>
                </a:solidFill>
                <a:latin typeface="Aptos"/>
                <a:ea typeface="Aptos"/>
                <a:cs typeface="Aptos"/>
              </a:rPr>
              <a:t>ARCHITECTURE / 模块化运行时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B6148C-FB77-4D32-8014-CEE2F1A4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B8C1C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B8C1C8"/>
                </a:solidFill>
                <a:latin typeface="Aptos"/>
                <a:ea typeface="Aptos"/>
                <a:cs typeface="Aptos"/>
              </a:rPr>
              <a:t>Sources: README.zh-CN.md; docs/PROJECT_STRUCTURE.md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67D104-5518-49D5-A912-C9CD0E1B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8C1C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8C1C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0CA7D9-B468-4D72-A81F-FFEAAA598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1028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1E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7F1E7"/>
                </a:solidFill>
                <a:latin typeface="PingFang SC"/>
                <a:ea typeface="PingFang SC"/>
                <a:cs typeface="PingFang SC"/>
              </a:rPr>
              <a:t>包化内核把城市状态、智能体状态和实验输出分层管理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877E2F-9FE2-40B7-B5D1-FB956BE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62100"/>
            <a:ext cx="990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FC0C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FC0CA"/>
                </a:solidFill>
                <a:latin typeface="Aptos"/>
                <a:ea typeface="Aptos"/>
                <a:cs typeface="Aptos"/>
              </a:rPr>
              <a:t>A package-first runtime separates inputs, simulation subsystems and artifacts.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0A5A74-0893-46E1-BF43-C68E19F0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207645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6CE83F-004E-4AA4-A08A-F2B13834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2076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8F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2B3821-90E7-4C3D-B70C-4DF86324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1695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C252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C252E"/>
                </a:solidFill>
                <a:latin typeface="PingFang SC"/>
                <a:ea typeface="PingFang SC"/>
                <a:cs typeface="PingFang SC"/>
              </a:rPr>
              <a:t>输入层</a:t>
            </a:r>
          </a:p>
          <a:p xmlns:a="http://schemas.openxmlformats.org/drawingml/2006/main">
            <a:pPr algn="ctr">
              <a:defRPr sz="1650" b="1">
                <a:solidFill>
                  <a:srgbClr val="1C252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C252E"/>
                </a:solidFill>
                <a:latin typeface="PingFang SC"/>
                <a:ea typeface="PingFang SC"/>
                <a:cs typeface="PingFang SC"/>
              </a:rPr>
              <a:t>Inputs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A8098D-DAE2-4130-802C-D7393B58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575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9485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94853"/>
                </a:solidFill>
                <a:latin typeface="Aptos"/>
                <a:ea typeface="Aptos"/>
                <a:cs typeface="Aptos"/>
              </a:rPr>
              <a:t>agents CSV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FA9EE4-AE81-46FA-BBB0-43E2FEC4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623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9485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94853"/>
                </a:solidFill>
                <a:latin typeface="Aptos"/>
                <a:ea typeface="Aptos"/>
                <a:cs typeface="Aptos"/>
              </a:rPr>
              <a:t>profiles MD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E9FE1D-FEDF-4E5D-9CBC-B09D91AF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671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9485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94853"/>
                </a:solidFill>
                <a:latin typeface="Aptos"/>
                <a:ea typeface="Aptos"/>
                <a:cs typeface="Aptos"/>
              </a:rPr>
              <a:t>citymap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C0881E-9A25-441A-95E1-ADE8BFCC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9485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94853"/>
                </a:solidFill>
                <a:latin typeface="Aptos"/>
                <a:ea typeface="Aptos"/>
                <a:cs typeface="Aptos"/>
              </a:rPr>
              <a:t>config overrides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366122-9431-4D67-97B5-450B51CD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90750"/>
            <a:ext cx="207645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3F868E-C6FC-4F64-9748-33F4A730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90750"/>
            <a:ext cx="2076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B7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EE9A63-9AC6-4BFA-9031-5F412F99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76500"/>
            <a:ext cx="1695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C252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C252E"/>
                </a:solidFill>
                <a:latin typeface="PingFang SC"/>
                <a:ea typeface="PingFang SC"/>
                <a:cs typeface="PingFang SC"/>
              </a:rPr>
              <a:t>仿真内核</a:t>
            </a:r>
          </a:p>
          <a:p xmlns:a="http://schemas.openxmlformats.org/drawingml/2006/main">
            <a:pPr algn="ctr">
              <a:defRPr sz="1650" b="1">
                <a:solidFill>
                  <a:srgbClr val="1C252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C252E"/>
                </a:solidFill>
                <a:latin typeface="PingFang SC"/>
                <a:ea typeface="PingFang SC"/>
                <a:cs typeface="PingFang SC"/>
              </a:rPr>
              <a:t>Simulation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6414E2-27D5-4BE2-B816-8C15B9A6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575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9485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94853"/>
                </a:solidFill>
                <a:latin typeface="Aptos"/>
                <a:ea typeface="Aptos"/>
                <a:cs typeface="Aptos"/>
              </a:rPr>
              <a:t>generative_city_sim.py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2F9D17-117E-492E-B43E-36E040A2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5623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9485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94853"/>
                </a:solidFill>
                <a:latin typeface="Aptos"/>
                <a:ea typeface="Aptos"/>
                <a:cs typeface="Aptos"/>
              </a:rPr>
              <a:t>gaworld/sim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03C076-6B09-47E0-897C-D7FC43A5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8671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9485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94853"/>
                </a:solidFill>
                <a:latin typeface="Aptos"/>
                <a:ea typeface="Aptos"/>
                <a:cs typeface="Aptos"/>
              </a:rPr>
              <a:t>core runner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69EF68-6CAE-4D27-8C19-41FA851E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1719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9485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94853"/>
                </a:solidFill>
                <a:latin typeface="Aptos"/>
                <a:ea typeface="Aptos"/>
                <a:cs typeface="Aptos"/>
              </a:rPr>
              <a:t>LLM router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3ED8BA-C825-4D04-AA18-21B3A541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90750"/>
            <a:ext cx="207645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BEDF8D-58D9-434B-8578-2352B2E8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90750"/>
            <a:ext cx="2076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2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A67D65-2A33-43A0-9EAE-6A9CB388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76500"/>
            <a:ext cx="1695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C252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C252E"/>
                </a:solidFill>
                <a:latin typeface="PingFang SC"/>
                <a:ea typeface="PingFang SC"/>
                <a:cs typeface="PingFang SC"/>
              </a:rPr>
              <a:t>行为系统</a:t>
            </a:r>
          </a:p>
          <a:p xmlns:a="http://schemas.openxmlformats.org/drawingml/2006/main">
            <a:pPr algn="ctr">
              <a:defRPr sz="1650" b="1">
                <a:solidFill>
                  <a:srgbClr val="1C252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C252E"/>
                </a:solidFill>
                <a:latin typeface="PingFang SC"/>
                <a:ea typeface="PingFang SC"/>
                <a:cs typeface="PingFang SC"/>
              </a:rPr>
              <a:t>Subsystems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974DDB-BAA3-4B70-A834-5A70D458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575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9485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94853"/>
                </a:solidFill>
                <a:latin typeface="Aptos"/>
                <a:ea typeface="Aptos"/>
                <a:cs typeface="Aptos"/>
              </a:rPr>
              <a:t>memory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CDE9E3-5005-4A09-8AD3-C1EB40C4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623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9485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94853"/>
                </a:solidFill>
                <a:latin typeface="Aptos"/>
                <a:ea typeface="Aptos"/>
                <a:cs typeface="Aptos"/>
              </a:rPr>
              <a:t>economy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28613B-3D24-4047-90B0-B951F9CE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671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9485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94853"/>
                </a:solidFill>
                <a:latin typeface="Aptos"/>
                <a:ea typeface="Aptos"/>
                <a:cs typeface="Aptos"/>
              </a:rPr>
              <a:t>world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259A71-904B-4054-A334-41D3181E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719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9485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94853"/>
                </a:solidFill>
                <a:latin typeface="Aptos"/>
                <a:ea typeface="Aptos"/>
                <a:cs typeface="Aptos"/>
              </a:rPr>
              <a:t>social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708319-D87C-4674-BAB2-2CBFA827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767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9485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94853"/>
                </a:solidFill>
                <a:latin typeface="Aptos"/>
                <a:ea typeface="Aptos"/>
                <a:cs typeface="Aptos"/>
              </a:rPr>
              <a:t>policy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492567-73F5-48C4-8999-B98A6E67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7815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9485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94853"/>
                </a:solidFill>
                <a:latin typeface="Aptos"/>
                <a:ea typeface="Aptos"/>
                <a:cs typeface="Aptos"/>
              </a:rPr>
              <a:t>work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572697-097B-49FA-B86D-B1041940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90750"/>
            <a:ext cx="207645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BFBF34-AFCA-4A64-984A-1EA025EE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90750"/>
            <a:ext cx="2076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A8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C358E1-625E-4115-A74A-32CEC367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76500"/>
            <a:ext cx="1695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C252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C252E"/>
                </a:solidFill>
                <a:latin typeface="PingFang SC"/>
                <a:ea typeface="PingFang SC"/>
                <a:cs typeface="PingFang SC"/>
              </a:rPr>
              <a:t>产物层</a:t>
            </a:r>
          </a:p>
          <a:p xmlns:a="http://schemas.openxmlformats.org/drawingml/2006/main">
            <a:pPr algn="ctr">
              <a:defRPr sz="1650" b="1">
                <a:solidFill>
                  <a:srgbClr val="1C252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C252E"/>
                </a:solidFill>
                <a:latin typeface="PingFang SC"/>
                <a:ea typeface="PingFang SC"/>
                <a:cs typeface="PingFang SC"/>
              </a:rPr>
              <a:t>Artifacts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C5628D-1BC2-481D-9C2B-482504CD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575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9485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94853"/>
                </a:solidFill>
                <a:latin typeface="Aptos"/>
                <a:ea typeface="Aptos"/>
                <a:cs typeface="Aptos"/>
              </a:rPr>
              <a:t>logs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45DB24-F338-476D-A156-D01483C2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623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9485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94853"/>
                </a:solidFill>
                <a:latin typeface="Aptos"/>
                <a:ea typeface="Aptos"/>
                <a:cs typeface="Aptos"/>
              </a:rPr>
              <a:t>state CSV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361009-75CE-4E42-85B1-4B0666E8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671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9485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94853"/>
                </a:solidFill>
                <a:latin typeface="Aptos"/>
                <a:ea typeface="Aptos"/>
                <a:cs typeface="Aptos"/>
              </a:rPr>
              <a:t>diaries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EE6018-E1F7-482F-9346-EF398CEF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719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9485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94853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F1BAF06-2BF9-40ED-B1F1-165A6200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767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9485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94853"/>
                </a:solidFill>
                <a:latin typeface="Aptos"/>
                <a:ea typeface="Aptos"/>
                <a:cs typeface="Aptos"/>
              </a:rPr>
              <a:t>reports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846FEF-6A17-447D-A6A4-36CCD89D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33750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7F1E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7F1E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6DCF0E6-188F-46CD-B881-68037E6C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333750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7F1E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7F1E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2B63242-BE2C-4432-812C-0B1B7C30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33750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7F1E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7F1E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84B23AB-03AD-4FE2-9077-7A2609BC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9525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8DDC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E8DDCF"/>
                </a:solidFill>
                <a:latin typeface="PingFang SC"/>
                <a:ea typeface="PingFang SC"/>
                <a:cs typeface="PingFang SC"/>
              </a:rPr>
              <a:t>开发边界 / Engineering boundary: 新代码进入 gaworld/ 包；根目录入口保持 CLI 与兼容层，便于迁移而不中断既有用法。</a:t>
            </a:r>
          </a:p>
        </p:txBody>
      </p:sp>
    </p:spTree>
    <p:extLst>
      <p:ext uri="{BB962C8B-B14F-4D97-AF65-F5344CB8AC3E}">
        <p14:creationId xmlns:p14="http://schemas.microsoft.com/office/powerpoint/2010/main" val="203609714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71898C-C49E-4172-8D00-CDB1EFFE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0A83F20-B5F1-4DFD-8CD1-0ABEB86D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B7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D79E02A-DE03-4E43-9D9E-E9ED734C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DDC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8DDCF"/>
                </a:solidFill>
                <a:latin typeface="Aptos"/>
                <a:ea typeface="Aptos"/>
                <a:cs typeface="Aptos"/>
              </a:rPr>
              <a:t>REALISM STACK / 真实感不是一个提示词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D7B4BA-76F1-447C-B2E0-FA706D22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B8C1C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B8C1C8"/>
                </a:solidFill>
                <a:latin typeface="Aptos"/>
                <a:ea typeface="Aptos"/>
                <a:cs typeface="Aptos"/>
              </a:rPr>
              <a:t>Sources: docs/FEATURES.md; README.zh-CN.md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1FBB22-8051-4634-AD63-723851B0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8C1C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8C1C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DFD6E8-E7EC-4860-86CB-A449B84B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1028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1E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7F1E7"/>
                </a:solidFill>
                <a:latin typeface="PingFang SC"/>
                <a:ea typeface="PingFang SC"/>
                <a:cs typeface="PingFang SC"/>
              </a:rPr>
              <a:t>真实感来自多个状态系统的耦合，而不是把 prompt 写得更长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748D83-C3D9-44B9-A246-7C89E3C3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62100"/>
            <a:ext cx="990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FC0C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FC0CA"/>
                </a:solidFill>
                <a:latin typeface="Aptos"/>
                <a:ea typeface="Aptos"/>
                <a:cs typeface="Aptos"/>
              </a:rPr>
              <a:t>Realism is an interacting state stack, not a single larger prompt.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0391DF-C772-471B-A2E4-05C45308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962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CB87E2-17A1-46C6-B12E-01B86A90B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666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8F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FD5EDB-0ACB-4703-8DF0-6B6005AA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145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C25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C252E"/>
                </a:solidFill>
                <a:latin typeface="PingFang SC"/>
                <a:ea typeface="PingFang SC"/>
                <a:cs typeface="PingFang SC"/>
              </a:rPr>
              <a:t>人物画像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B9B654-2C2C-43E9-A970-733C054CA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12407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8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873"/>
                </a:solidFill>
                <a:latin typeface="Aptos"/>
                <a:ea typeface="Aptos"/>
                <a:cs typeface="Aptos"/>
              </a:rPr>
              <a:t>Profile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040FC5-2BD3-4260-B7D8-65ABDAB1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145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C25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C252E"/>
                </a:solidFill>
                <a:latin typeface="PingFang SC"/>
                <a:ea typeface="PingFang SC"/>
                <a:cs typeface="PingFang SC"/>
              </a:rPr>
              <a:t>CSV 状态种子 + Markdown profile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6486F7-D100-4860-A140-DEB5DACF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962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D41448-25BD-41C3-BC02-87939BA8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666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B7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077EF3-51A3-4927-9C08-F60FEBAB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C25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C252E"/>
                </a:solidFill>
                <a:latin typeface="PingFang SC"/>
                <a:ea typeface="PingFang SC"/>
                <a:cs typeface="PingFang SC"/>
              </a:rPr>
              <a:t>长期记忆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FC7017-F4AC-4F0D-AD18-8778AEF1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1937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8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873"/>
                </a:solidFill>
                <a:latin typeface="Aptos"/>
                <a:ea typeface="Aptos"/>
                <a:cs typeface="Aptos"/>
              </a:rPr>
              <a:t>Memory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8C7CBB-669D-4453-A341-C4C5980B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C25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C252E"/>
                </a:solidFill>
                <a:latin typeface="PingFang SC"/>
                <a:ea typeface="PingFang SC"/>
                <a:cs typeface="PingFang SC"/>
              </a:rPr>
              <a:t>情景记忆、总结、习惯、意图、关系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E869B4-E0D5-4B76-B391-70C128EC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962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3AA166-ABD2-4ED1-AF7B-9650B6E7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666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A8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2EF30D-9BE2-4A52-860C-7379610C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051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C25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C252E"/>
                </a:solidFill>
                <a:latin typeface="PingFang SC"/>
                <a:ea typeface="PingFang SC"/>
                <a:cs typeface="PingFang SC"/>
              </a:rPr>
              <a:t>城市移动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524F03-6AAB-4558-A870-997B470E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11467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8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873"/>
                </a:solidFill>
                <a:latin typeface="Aptos"/>
                <a:ea typeface="Aptos"/>
                <a:cs typeface="Aptos"/>
              </a:rPr>
              <a:t>Mobility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246D84-4F3C-4912-8042-D863D6A6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051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C25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C252E"/>
                </a:solidFill>
                <a:latin typeface="PingFang SC"/>
                <a:ea typeface="PingFang SC"/>
                <a:cs typeface="PingFang SC"/>
              </a:rPr>
              <a:t>地图路线、交通成本、天气 / 高峰影响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9C555B-1A38-4F3F-A299-F7AC328B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962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B18CD5-0C95-4F84-BAA5-938857FC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666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2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D8AE83-B504-420B-9DA1-E40CE1D3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004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C25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C252E"/>
                </a:solidFill>
                <a:latin typeface="PingFang SC"/>
                <a:ea typeface="PingFang SC"/>
                <a:cs typeface="PingFang SC"/>
              </a:rPr>
              <a:t>经济状态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34FB58-0988-42A5-9971-1DFB1364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0997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8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873"/>
                </a:solidFill>
                <a:latin typeface="Aptos"/>
                <a:ea typeface="Aptos"/>
                <a:cs typeface="Aptos"/>
              </a:rPr>
              <a:t>Economy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AB5D72-C4C8-4619-A7D8-D97835F8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004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C25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C252E"/>
                </a:solidFill>
                <a:latin typeface="PingFang SC"/>
                <a:ea typeface="PingFang SC"/>
                <a:cs typeface="PingFang SC"/>
              </a:rPr>
              <a:t>个税、社保、消费、投资、宏观周期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901D12-B4FC-4AEF-B89E-E97AAA0D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962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8E3C02-D84A-4C26-B9F7-20F140D4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666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9432F0-B7EA-4E84-8E64-73CDF47E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957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C25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C252E"/>
                </a:solidFill>
                <a:latin typeface="PingFang SC"/>
                <a:ea typeface="PingFang SC"/>
                <a:cs typeface="PingFang SC"/>
              </a:rPr>
              <a:t>社会网络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C948F5-F248-4080-A4C6-DDBCFE48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10527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8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873"/>
                </a:solidFill>
                <a:latin typeface="Aptos"/>
                <a:ea typeface="Aptos"/>
                <a:cs typeface="Aptos"/>
              </a:rPr>
              <a:t>Social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96C9A3-5541-4EF2-8450-3C658E57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957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C25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C252E"/>
                </a:solidFill>
                <a:latin typeface="PingFang SC"/>
                <a:ea typeface="PingFang SC"/>
                <a:cs typeface="PingFang SC"/>
              </a:rPr>
              <a:t>关系衰减、Dunbar 分层、ghost 事件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05F610-D190-4A8D-8696-9E75C6C0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962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4A7996-CFF5-4718-855F-30273AEE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666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74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CF01C5-AD3B-45A8-A4D6-08C42DB7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910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C25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C252E"/>
                </a:solidFill>
                <a:latin typeface="PingFang SC"/>
                <a:ea typeface="PingFang SC"/>
                <a:cs typeface="PingFang SC"/>
              </a:rPr>
              <a:t>技能 / 工作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E390FE-4253-4A1C-878C-8122026D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0057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8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873"/>
                </a:solidFill>
                <a:latin typeface="Aptos"/>
                <a:ea typeface="Aptos"/>
                <a:cs typeface="Aptos"/>
              </a:rPr>
              <a:t>Skills &amp; Work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3DCC68-E8A1-4CD3-8129-14B648B1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910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C25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C252E"/>
                </a:solidFill>
                <a:latin typeface="PingFang SC"/>
                <a:ea typeface="PingFang SC"/>
                <a:cs typeface="PingFang SC"/>
              </a:rPr>
              <a:t>Markdown Skill、真实任务产物与结算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022D0A8-10A5-4D39-B415-1F009F6D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10150"/>
            <a:ext cx="962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0B87CB-4AA4-4447-991D-32DF8614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10150"/>
            <a:ext cx="666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D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56E0E92-F35E-4356-97E6-7BEC5638C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863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C25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C252E"/>
                </a:solidFill>
                <a:latin typeface="PingFang SC"/>
                <a:ea typeface="PingFang SC"/>
                <a:cs typeface="PingFang SC"/>
              </a:rPr>
              <a:t>物理环境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B88D7D9-E9A4-48C4-A344-B4D146D1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09587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8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873"/>
                </a:solidFill>
                <a:latin typeface="Aptos"/>
                <a:ea typeface="Aptos"/>
                <a:cs typeface="Aptos"/>
              </a:rPr>
              <a:t>Physical Env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2EE9337-1DA5-4233-835F-B194DA7E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863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C25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C252E"/>
                </a:solidFill>
                <a:latin typeface="PingFang SC"/>
                <a:ea typeface="PingFang SC"/>
                <a:cs typeface="PingFang SC"/>
              </a:rPr>
              <a:t>拥挤、营业、异常、反应式重规划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8D71E1E-02C3-42AC-AE5B-90FC96A5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15000"/>
            <a:ext cx="962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631"/>
          </a:solidFill>
          <a:ln xmlns:a="http://schemas.openxmlformats.org/drawingml/2006/main" w="9525">
            <a:solidFill>
              <a:srgbClr val="2D445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9F8D1A1-1969-4B99-9F1A-16B5F7F7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81675"/>
            <a:ext cx="904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8DDC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E8DDCF"/>
                </a:solidFill>
                <a:latin typeface="PingFang SC"/>
                <a:ea typeface="PingFang SC"/>
                <a:cs typeface="PingFang SC"/>
              </a:rPr>
              <a:t>结果：每个 agent 的日程、选择和访谈都受跨天记忆、空间成本、经济压力和社交关系共同约束。</a:t>
            </a:r>
          </a:p>
        </p:txBody>
      </p:sp>
    </p:spTree>
    <p:extLst>
      <p:ext uri="{BB962C8B-B14F-4D97-AF65-F5344CB8AC3E}">
        <p14:creationId xmlns:p14="http://schemas.microsoft.com/office/powerpoint/2010/main" val="128160433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A5E722-2752-42EA-B929-BD9185B6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E635BFA-140C-4014-B224-C241363B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B7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3E8804E-A463-4489-917F-5CE912DA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DDC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8DDCF"/>
                </a:solidFill>
                <a:latin typeface="Aptos"/>
                <a:ea typeface="Aptos"/>
                <a:cs typeface="Aptos"/>
              </a:rPr>
              <a:t>EXPERIMENTS / Treatment 对照框架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586EA1-89FA-44F3-95BD-9982F2F1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B8C1C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B8C1C8"/>
                </a:solidFill>
                <a:latin typeface="Aptos"/>
                <a:ea typeface="Aptos"/>
                <a:cs typeface="Aptos"/>
              </a:rPr>
              <a:t>Sources: docs/EXPERIMENTS_REPORT.md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7EED69-5E87-4361-AF1C-0A22F9A4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8C1C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8C1C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D4188C-DBE0-4F24-BFD4-E5539211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1028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1E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7F1E7"/>
                </a:solidFill>
                <a:latin typeface="PingFang SC"/>
                <a:ea typeface="PingFang SC"/>
                <a:cs typeface="PingFang SC"/>
              </a:rPr>
              <a:t>实验系统把同一批智能体放进不同 treatment，产出可比较指标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095F49-DA03-4993-A48F-76C0F68B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62100"/>
            <a:ext cx="990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FC0C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FC0CA"/>
                </a:solidFill>
                <a:latin typeface="Aptos"/>
                <a:ea typeface="Aptos"/>
                <a:cs typeface="Aptos"/>
              </a:rPr>
              <a:t>Treatment-based counterfactual runs share agents, metrics and output schema.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2EB2BF-D8E9-4FFE-9CCB-8BF4E218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5430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278FCF-22FE-4D42-88C2-72154FD8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54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8F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46F0F0-9DC0-4457-895E-F26C95CD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C25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C252E"/>
                </a:solidFill>
                <a:latin typeface="PingFang SC"/>
                <a:ea typeface="PingFang SC"/>
                <a:cs typeface="PingFang SC"/>
              </a:rPr>
              <a:t>同一批 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944539-FF97-49CB-9181-B7877151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D687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873"/>
                </a:solidFill>
                <a:latin typeface="Aptos"/>
                <a:ea typeface="Aptos"/>
                <a:cs typeface="Aptos"/>
              </a:rPr>
              <a:t>same seeds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10F01D-0591-447D-9FA9-E104802E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5745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7F1E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7F1E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1DFF90-4224-455F-9CE2-177AFE0E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95500"/>
            <a:ext cx="15430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DBD174-669B-4948-ABF5-C67B9463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95500"/>
            <a:ext cx="154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2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3C945E-7FAE-41C8-9D45-37797ED3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812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C25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C252E"/>
                </a:solidFill>
                <a:latin typeface="PingFang SC"/>
                <a:ea typeface="PingFang SC"/>
                <a:cs typeface="PingFang SC"/>
              </a:rPr>
              <a:t>事件 / 政策注入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18A6A1-072E-4C7B-B059-DC1B7F4C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860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D687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873"/>
                </a:solidFill>
                <a:latin typeface="Aptos"/>
                <a:ea typeface="Aptos"/>
                <a:cs typeface="Aptos"/>
              </a:rPr>
              <a:t>event or intervention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60B1AF-D4B9-4B81-BE5C-B2B5BA82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5745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7F1E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7F1E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B7D29A-66A7-408F-9D23-28CFCCB6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95500"/>
            <a:ext cx="15430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28059A-6E9C-4E38-8D45-6C03F773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95500"/>
            <a:ext cx="154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B7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B2D89B-9BC8-4BBA-8C12-E8B819F6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812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C25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C252E"/>
                </a:solidFill>
                <a:latin typeface="PingFang SC"/>
                <a:ea typeface="PingFang SC"/>
                <a:cs typeface="PingFang SC"/>
              </a:rPr>
              <a:t>多天仿真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162CF7-AAD2-4156-A62C-450F75A6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860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D687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873"/>
                </a:solidFill>
                <a:latin typeface="Aptos"/>
                <a:ea typeface="Aptos"/>
                <a:cs typeface="Aptos"/>
              </a:rPr>
              <a:t>multi-day run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BE2B32-9281-4D4D-BBF8-C1064E2F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5745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7F1E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7F1E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EF9919-8082-4827-B2C7-DFBB541C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95500"/>
            <a:ext cx="15430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BD1F41-6085-49C8-B190-711F5D0A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95500"/>
            <a:ext cx="154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A8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77D67E-294F-4414-B4C9-A7E5267E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812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C25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C252E"/>
                </a:solidFill>
                <a:latin typeface="PingFang SC"/>
                <a:ea typeface="PingFang SC"/>
                <a:cs typeface="PingFang SC"/>
              </a:rPr>
              <a:t>日志 + 状态 CSV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C96E47-EF19-422B-A5FC-574C8999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860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D687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873"/>
                </a:solidFill>
                <a:latin typeface="Aptos"/>
                <a:ea typeface="Aptos"/>
                <a:cs typeface="Aptos"/>
              </a:rPr>
              <a:t>trace + metrics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48066D-4C1B-4A86-AF92-3FDDC319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5745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7F1E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7F1E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C4CA38-F1C1-4928-B096-C4861B6F0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95500"/>
            <a:ext cx="15430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5F3AD6-5282-4B1E-8135-AD22BE6FA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95500"/>
            <a:ext cx="154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A84DC1-C38B-4650-8F86-40985299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812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C25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C252E"/>
                </a:solidFill>
                <a:latin typeface="PingFang SC"/>
                <a:ea typeface="PingFang SC"/>
                <a:cs typeface="PingFang SC"/>
              </a:rPr>
              <a:t>对照分析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36DA15-5423-4A5C-B01A-54A7B317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860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D687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873"/>
                </a:solidFill>
                <a:latin typeface="Aptos"/>
                <a:ea typeface="Aptos"/>
                <a:cs typeface="Aptos"/>
              </a:rPr>
              <a:t>comparison report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E5D5DF-0259-43D9-BE53-A3C41B44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36"/>
          </a:solidFill>
          <a:ln xmlns:a="http://schemas.openxmlformats.org/drawingml/2006/main" w="9525">
            <a:solidFill>
              <a:srgbClr val="2D445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DFE92D-5320-458A-9406-F4E3F1DB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814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A8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A86E"/>
                </a:solidFill>
                <a:latin typeface="Aptos"/>
                <a:ea typeface="Aptos"/>
                <a:cs typeface="Aptos"/>
              </a:rPr>
              <a:t>INFO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59F395-8E64-4FDD-A73F-8F1B2304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971925"/>
            <a:ext cx="1190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8DDCF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E8DDCF"/>
                </a:solidFill>
                <a:latin typeface="PingFang SC"/>
                <a:ea typeface="PingFang SC"/>
                <a:cs typeface="PingFang SC"/>
              </a:rPr>
              <a:t>谣言传播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92E0A1-B853-4DB3-B9DE-633AA0C5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971925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FC0C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AFC0CA"/>
                </a:solidFill>
                <a:latin typeface="PingFang SC"/>
                <a:ea typeface="PingFang SC"/>
                <a:cs typeface="PingFang SC"/>
              </a:rPr>
              <a:t>完成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7848D3-AC80-4849-A889-124BC421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90525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36"/>
          </a:solidFill>
          <a:ln xmlns:a="http://schemas.openxmlformats.org/drawingml/2006/main" w="9525">
            <a:solidFill>
              <a:srgbClr val="2D445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A153B48-19DE-453D-BEFF-14E2149F0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814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A8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A86E"/>
                </a:solidFill>
                <a:latin typeface="Aptos"/>
                <a:ea typeface="Aptos"/>
                <a:cs typeface="Aptos"/>
              </a:rPr>
              <a:t>POL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BAD87C0-A287-491D-B317-E37BBCBF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971925"/>
            <a:ext cx="1190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8DDCF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E8DDCF"/>
                </a:solidFill>
                <a:latin typeface="PingFang SC"/>
                <a:ea typeface="PingFang SC"/>
                <a:cs typeface="PingFang SC"/>
              </a:rPr>
              <a:t>极化 / 回音壁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702B03D-197C-48E9-B634-FD03A0E5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71925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FC0C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AFC0CA"/>
                </a:solidFill>
                <a:latin typeface="PingFang SC"/>
                <a:ea typeface="PingFang SC"/>
                <a:cs typeface="PingFang SC"/>
              </a:rPr>
              <a:t>完成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E3D6463-1682-4C5C-8B2C-D9FA1447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90525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36"/>
          </a:solidFill>
          <a:ln xmlns:a="http://schemas.openxmlformats.org/drawingml/2006/main" w="9525">
            <a:solidFill>
              <a:srgbClr val="2D445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4B923D6-0D49-49EA-A6A2-1697F9E5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9814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92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923B"/>
                </a:solidFill>
                <a:latin typeface="Aptos"/>
                <a:ea typeface="Aptos"/>
                <a:cs typeface="Aptos"/>
              </a:rPr>
              <a:t>MEM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328389A-AA91-499D-A745-25172112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71925"/>
            <a:ext cx="1190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8DDCF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E8DDCF"/>
                </a:solidFill>
                <a:latin typeface="PingFang SC"/>
                <a:ea typeface="PingFang SC"/>
                <a:cs typeface="PingFang SC"/>
              </a:rPr>
              <a:t>记忆一致性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9607D66-6885-4FF3-85B6-94FF7C56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971925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FC0C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AFC0CA"/>
                </a:solidFill>
                <a:latin typeface="PingFang SC"/>
                <a:ea typeface="PingFang SC"/>
                <a:cs typeface="PingFang SC"/>
              </a:rPr>
              <a:t>部分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E28C439-2DC6-49A6-A52F-6D5BA5A3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6245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36"/>
          </a:solidFill>
          <a:ln xmlns:a="http://schemas.openxmlformats.org/drawingml/2006/main" w="9525">
            <a:solidFill>
              <a:srgbClr val="2D445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04B0A05-F314-4DEA-BF27-E787DA6F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386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A8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A86E"/>
                </a:solidFill>
                <a:latin typeface="Aptos"/>
                <a:ea typeface="Aptos"/>
                <a:cs typeface="Aptos"/>
              </a:rPr>
              <a:t>ECON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BB96452-D253-4E21-884B-D75570AA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429125"/>
            <a:ext cx="1190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8DDCF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E8DDCF"/>
                </a:solidFill>
                <a:latin typeface="PingFang SC"/>
                <a:ea typeface="PingFang SC"/>
                <a:cs typeface="PingFang SC"/>
              </a:rPr>
              <a:t>宏观经济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7B6B5FF-1D98-474B-84EE-BD9EBE29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429125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FC0C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AFC0CA"/>
                </a:solidFill>
                <a:latin typeface="PingFang SC"/>
                <a:ea typeface="PingFang SC"/>
                <a:cs typeface="PingFang SC"/>
              </a:rPr>
              <a:t>完成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C850FA0-9392-4E02-B1E9-17E0366E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6245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36"/>
          </a:solidFill>
          <a:ln xmlns:a="http://schemas.openxmlformats.org/drawingml/2006/main" w="9525">
            <a:solidFill>
              <a:srgbClr val="2D445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1DED5A6-2F67-4613-8D44-B2AB9DFD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386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A8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A86E"/>
                </a:solidFill>
                <a:latin typeface="Aptos"/>
                <a:ea typeface="Aptos"/>
                <a:cs typeface="Aptos"/>
              </a:rPr>
              <a:t>POLICY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3DC498B-DE55-492A-980C-0D325C6C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429125"/>
            <a:ext cx="1190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8DDCF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E8DDCF"/>
                </a:solidFill>
                <a:latin typeface="PingFang SC"/>
                <a:ea typeface="PingFang SC"/>
                <a:cs typeface="PingFang SC"/>
              </a:rPr>
              <a:t>政策框架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A73FC3C-A5E0-4C67-A4A4-F3120650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29125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FC0C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AFC0CA"/>
                </a:solidFill>
                <a:latin typeface="PingFang SC"/>
                <a:ea typeface="PingFang SC"/>
                <a:cs typeface="PingFang SC"/>
              </a:rPr>
              <a:t>完成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95D7016-B228-49ED-8A87-6D8B1602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36245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36"/>
          </a:solidFill>
          <a:ln xmlns:a="http://schemas.openxmlformats.org/drawingml/2006/main" w="9525">
            <a:solidFill>
              <a:srgbClr val="2D445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19C69B4-3279-49AC-B9F3-ECEEFCB4D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4386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92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923B"/>
                </a:solidFill>
                <a:latin typeface="Aptos"/>
                <a:ea typeface="Aptos"/>
                <a:cs typeface="Aptos"/>
              </a:rPr>
              <a:t>NET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59E101D-F45A-4322-9491-6620C343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29125"/>
            <a:ext cx="1190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8DDCF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E8DDCF"/>
                </a:solidFill>
                <a:latin typeface="PingFang SC"/>
                <a:ea typeface="PingFang SC"/>
                <a:cs typeface="PingFang SC"/>
              </a:rPr>
              <a:t>网络演化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D7971A9-36E7-4663-9953-39A6F2D5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429125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FC0C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AFC0CA"/>
                </a:solidFill>
                <a:latin typeface="PingFang SC"/>
                <a:ea typeface="PingFang SC"/>
                <a:cs typeface="PingFang SC"/>
              </a:rPr>
              <a:t>部分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D08C255-3C47-4887-856E-50732E60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965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36"/>
          </a:solidFill>
          <a:ln xmlns:a="http://schemas.openxmlformats.org/drawingml/2006/main" w="9525">
            <a:solidFill>
              <a:srgbClr val="2D445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1B8AD65-5582-401C-971E-EC5EA080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958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65A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65A4A"/>
                </a:solidFill>
                <a:latin typeface="Aptos"/>
                <a:ea typeface="Aptos"/>
                <a:cs typeface="Aptos"/>
              </a:rPr>
              <a:t>EMO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3990C3F-C96D-4743-B555-42EA9F04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886325"/>
            <a:ext cx="1190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8DDCF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E8DDCF"/>
                </a:solidFill>
                <a:latin typeface="PingFang SC"/>
                <a:ea typeface="PingFang SC"/>
                <a:cs typeface="PingFang SC"/>
              </a:rPr>
              <a:t>情绪传染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E391CF5-DD1B-45EB-BF6F-F98FEC01C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886325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FC0C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AFC0CA"/>
                </a:solidFill>
                <a:latin typeface="PingFang SC"/>
                <a:ea typeface="PingFang SC"/>
                <a:cs typeface="PingFang SC"/>
              </a:rPr>
              <a:t>待确认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38C7D7A-E171-4619-9CF5-92D703BE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1965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36"/>
          </a:solidFill>
          <a:ln xmlns:a="http://schemas.openxmlformats.org/drawingml/2006/main" w="9525">
            <a:solidFill>
              <a:srgbClr val="2D445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E09948D-E9A3-4FEA-A597-4247D3B1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8958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8F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8FBF"/>
                </a:solidFill>
                <a:latin typeface="Aptos"/>
                <a:ea typeface="Aptos"/>
                <a:cs typeface="Aptos"/>
              </a:rPr>
              <a:t>VAL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05270EB-8151-4713-8927-8D412EB0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886325"/>
            <a:ext cx="1190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8DDCF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E8DDCF"/>
                </a:solidFill>
                <a:latin typeface="PingFang SC"/>
                <a:ea typeface="PingFang SC"/>
                <a:cs typeface="PingFang SC"/>
              </a:rPr>
              <a:t>ABM 验证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10F024D-FFCA-4053-A1C3-C27C1181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86325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FC0C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AFC0CA"/>
                </a:solidFill>
                <a:latin typeface="PingFang SC"/>
                <a:ea typeface="PingFang SC"/>
                <a:cs typeface="PingFang SC"/>
              </a:rPr>
              <a:t>设计 / 重试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EE60FCC-1A7D-4F21-BCB4-655C18DD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81965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36"/>
          </a:solidFill>
          <a:ln xmlns:a="http://schemas.openxmlformats.org/drawingml/2006/main" w="9525">
            <a:solidFill>
              <a:srgbClr val="2D445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A5A7CA7-A441-4644-9A17-03E9B65F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8958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A8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A86E"/>
                </a:solidFill>
                <a:latin typeface="Aptos"/>
                <a:ea typeface="Aptos"/>
                <a:cs typeface="Aptos"/>
              </a:rPr>
              <a:t>TRANS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6203760-9A5A-4CE4-8714-36BD7A04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86325"/>
            <a:ext cx="1190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8DDCF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E8DDCF"/>
                </a:solidFill>
                <a:latin typeface="PingFang SC"/>
                <a:ea typeface="PingFang SC"/>
                <a:cs typeface="PingFang SC"/>
              </a:rPr>
              <a:t>交通行为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1392A31-34FC-41EB-8BA6-DF82DCAB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886325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FC0C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AFC0CA"/>
                </a:solidFill>
                <a:latin typeface="PingFang SC"/>
                <a:ea typeface="PingFang SC"/>
                <a:cs typeface="PingFang SC"/>
              </a:rPr>
              <a:t>完成</a:t>
            </a:r>
          </a:p>
        </p:txBody>
      </p:sp>
    </p:spTree>
    <p:extLst>
      <p:ext uri="{BB962C8B-B14F-4D97-AF65-F5344CB8AC3E}">
        <p14:creationId xmlns:p14="http://schemas.microsoft.com/office/powerpoint/2010/main" val="174540664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1C41AD-00E9-44ED-B901-B23F3D8D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C80763C-E357-4128-AACB-21D11368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B7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02CB40A-DF5C-45FA-AE21-1DDBA135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DDC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8DDCF"/>
                </a:solidFill>
                <a:latin typeface="Aptos"/>
                <a:ea typeface="Aptos"/>
                <a:cs typeface="Aptos"/>
              </a:rPr>
              <a:t>EVIDENCE / 已有实验发现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8FDF97-C8E6-4CD4-B7A7-E882FCB6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B8C1C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B8C1C8"/>
                </a:solidFill>
                <a:latin typeface="Aptos"/>
                <a:ea typeface="Aptos"/>
                <a:cs typeface="Aptos"/>
              </a:rPr>
              <a:t>Sources: docs/EXPERIMENTS_REPORT.md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36EAFD-455B-4E4B-B821-460C459C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8C1C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8C1C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A8B586-8AFA-4322-93E2-1CB7E39D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1028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1E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7F1E7"/>
                </a:solidFill>
                <a:latin typeface="PingFang SC"/>
                <a:ea typeface="PingFang SC"/>
                <a:cs typeface="PingFang SC"/>
              </a:rPr>
              <a:t>已有运行不只给出正结果，也暴露了反直觉与系统瓶颈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B7ECDE-DCC4-4A5D-8E11-2A62BA06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62100"/>
            <a:ext cx="990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FC0C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FC0CA"/>
                </a:solidFill>
                <a:latin typeface="Aptos"/>
                <a:ea typeface="Aptos"/>
                <a:cs typeface="Aptos"/>
              </a:rPr>
              <a:t>Completed runs surface interpretable findings, including null and inverse effects.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8F6842-F130-480B-941F-C5EF02CB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28575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6E7DBC-A3CD-4CDC-94E9-19D3CEF4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2857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B7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45347E-1737-43CC-A5BA-8AFD2F61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2410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C252E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C252E"/>
                </a:solidFill>
                <a:latin typeface="PingFang SC"/>
                <a:ea typeface="PingFang SC"/>
                <a:cs typeface="PingFang SC"/>
              </a:rPr>
              <a:t>谣言干预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AE39FC-607B-4CA6-9DCF-E53551B7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09850"/>
            <a:ext cx="2438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7B7A7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37B7A7"/>
                </a:solidFill>
                <a:latin typeface="Aptos Display"/>
                <a:ea typeface="Aptos Display"/>
                <a:cs typeface="Aptos Display"/>
              </a:rPr>
              <a:t>loss -4.5% -&gt; -0.7%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926BDA-4B41-403B-9FD0-13DB9B84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71800"/>
            <a:ext cx="243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94853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394853"/>
                </a:solidFill>
                <a:latin typeface="PingFang SC"/>
                <a:ea typeface="PingFang SC"/>
                <a:cs typeface="PingFang SC"/>
              </a:rPr>
              <a:t>多样性提升把 intervention_reward 损失压缩 3.8 个百分点。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68F958-A332-4413-A692-655A53639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95500"/>
            <a:ext cx="28575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BA8D43-CCB0-4E30-818E-27BE40D8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95500"/>
            <a:ext cx="2857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062E44-B469-4AB6-9CE9-EF94643B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2410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C252E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C252E"/>
                </a:solidFill>
                <a:latin typeface="PingFang SC"/>
                <a:ea typeface="PingFang SC"/>
                <a:cs typeface="PingFang SC"/>
              </a:rPr>
              <a:t>极化实验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ACE444-A0E2-46DE-B233-B0CF4AC8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09850"/>
            <a:ext cx="2438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65A4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C65A4A"/>
                </a:solidFill>
                <a:latin typeface="Aptos Display"/>
                <a:ea typeface="Aptos Display"/>
                <a:cs typeface="Aptos Display"/>
              </a:rPr>
              <a:t>+3.6%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58C9C4-636B-42B0-8409-6EBE083A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71800"/>
            <a:ext cx="243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94853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394853"/>
                </a:solidFill>
                <a:latin typeface="PingFang SC"/>
                <a:ea typeface="PingFang SC"/>
                <a:cs typeface="PingFang SC"/>
              </a:rPr>
              <a:t>多样性干预反而提高 polarization_index；stance_std 降低 9.0%。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A69DA3-071B-418B-9C84-3C71CFD9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95500"/>
            <a:ext cx="28575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904041-1AAF-4F2A-A722-F9226E29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95500"/>
            <a:ext cx="2857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A8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08347E-8DB4-4007-94AA-1014AB1C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2410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C252E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C252E"/>
                </a:solidFill>
                <a:latin typeface="PingFang SC"/>
                <a:ea typeface="PingFang SC"/>
                <a:cs typeface="PingFang SC"/>
              </a:rPr>
              <a:t>记忆一致性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CDD26C-0402-4449-B63F-131CF68F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09850"/>
            <a:ext cx="2438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FA86E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6FA86E"/>
                </a:solidFill>
                <a:latin typeface="Aptos Display"/>
                <a:ea typeface="Aptos Display"/>
                <a:cs typeface="Aptos Display"/>
              </a:rPr>
              <a:t>0.874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0E6567-64B7-470E-9A6B-9E909EFF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971800"/>
            <a:ext cx="243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94853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394853"/>
                </a:solidFill>
                <a:latin typeface="PingFang SC"/>
                <a:ea typeface="PingFang SC"/>
                <a:cs typeface="PingFang SC"/>
              </a:rPr>
              <a:t>完整记忆 treatment 的行为连续性指数；阶段切换仍是瓶颈。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B83640-B3C0-49EC-8338-8921B110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05250"/>
            <a:ext cx="4000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CCCEE3-E4B8-4807-B6D0-478F28B6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05250"/>
            <a:ext cx="4000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2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D8258E-62B5-47A6-9426-2617467C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133850"/>
            <a:ext cx="3581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C252E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C252E"/>
                </a:solidFill>
                <a:latin typeface="PingFang SC"/>
                <a:ea typeface="PingFang SC"/>
                <a:cs typeface="PingFang SC"/>
              </a:rPr>
              <a:t>宏观经济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3FB676-78C1-4EF1-8F5C-FA4ABF26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419600"/>
            <a:ext cx="3581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9923B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D9923B"/>
                </a:solidFill>
                <a:latin typeface="Aptos Display"/>
                <a:ea typeface="Aptos Display"/>
                <a:cs typeface="Aptos Display"/>
              </a:rPr>
              <a:t>倒U / U型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EADE5A-E359-412A-A9C0-7D8D239B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781550"/>
            <a:ext cx="3581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94853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394853"/>
                </a:solidFill>
                <a:latin typeface="PingFang SC"/>
                <a:ea typeface="PingFang SC"/>
                <a:cs typeface="PingFang SC"/>
              </a:rPr>
              <a:t>emotion 与 econ_security 倒U，stress 呈 U 型。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045590-8D7C-4FA6-ADF8-067C6FA7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05250"/>
            <a:ext cx="4000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9495BC-CE0B-463A-ABCD-6DE92DF2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05250"/>
            <a:ext cx="4000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8F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44FB5B-047F-44AA-AC61-448A4EB81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133850"/>
            <a:ext cx="3581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C252E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C252E"/>
                </a:solidFill>
                <a:latin typeface="PingFang SC"/>
                <a:ea typeface="PingFang SC"/>
                <a:cs typeface="PingFang SC"/>
              </a:rPr>
              <a:t>政策框架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850B02-671E-4B74-BB04-F60C54D8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419600"/>
            <a:ext cx="3581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B8FB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6B8FBF"/>
                </a:solidFill>
                <a:latin typeface="Aptos Display"/>
                <a:ea typeface="Aptos Display"/>
                <a:cs typeface="Aptos Display"/>
              </a:rPr>
              <a:t>housing strongest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7F3C4B-0838-42FD-B64B-4961103A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781550"/>
            <a:ext cx="3581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94853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394853"/>
                </a:solidFill>
                <a:latin typeface="PingFang SC"/>
                <a:ea typeface="PingFang SC"/>
                <a:cs typeface="PingFang SC"/>
              </a:rPr>
              <a:t>住房补贴带来最大 time_pressure 下降：-0.0311。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463C34-7A45-42BB-908B-1ACE7990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429250"/>
            <a:ext cx="933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631"/>
          </a:solidFill>
          <a:ln xmlns:a="http://schemas.openxmlformats.org/drawingml/2006/main" w="9525">
            <a:solidFill>
              <a:srgbClr val="2D445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5F8C61-F3FF-4A4C-8599-C707E6AF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524500"/>
            <a:ext cx="885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E8DDCF"/>
                </a:solidFill>
                <a:latin typeface="PingFang SC"/>
                <a:ea typeface="PingFang SC"/>
                <a:cs typeface="PingFang SC"/>
              </a:defRPr>
            </a:pPr>
            <a:r>
              <a:rPr sz="1238" b="1">
                <a:solidFill>
                  <a:srgbClr val="E8DDCF"/>
                </a:solidFill>
                <a:latin typeface="PingFang SC"/>
                <a:ea typeface="PingFang SC"/>
                <a:cs typeface="PingFang SC"/>
              </a:rPr>
              <a:t>结论 / Takeaway: GAWorld 已经能让“无效”“反向”“卡死”等结果进入分析，而不是被包装成单向成功故事。</a:t>
            </a:r>
          </a:p>
        </p:txBody>
      </p:sp>
    </p:spTree>
    <p:extLst>
      <p:ext uri="{BB962C8B-B14F-4D97-AF65-F5344CB8AC3E}">
        <p14:creationId xmlns:p14="http://schemas.microsoft.com/office/powerpoint/2010/main" val="60745113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887AF8-745C-4180-9612-51C0CB0E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D49BB0B-774B-4664-B995-4F60B9DA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B7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C5262D5-AAF5-4B4E-82F9-B08C055A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DDC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8DDCF"/>
                </a:solidFill>
                <a:latin typeface="Aptos"/>
                <a:ea typeface="Aptos"/>
                <a:cs typeface="Aptos"/>
              </a:rPr>
              <a:t>OPERATIONS / 使用入口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06ED30-ED39-4C16-B1DE-FD10DBA6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B8C1C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B8C1C8"/>
                </a:solidFill>
                <a:latin typeface="Aptos"/>
                <a:ea typeface="Aptos"/>
                <a:cs typeface="Aptos"/>
              </a:rPr>
              <a:t>Sources: docs/FEATURES.md; README.zh-CN.md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5B02E9-F393-479F-BBDC-74002F6E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8C1C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8C1C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D3F120-6A00-441A-A7BB-C3F9689B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1028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1E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7F1E7"/>
                </a:solidFill>
                <a:latin typeface="PingFang SC"/>
                <a:ea typeface="PingFang SC"/>
                <a:cs typeface="PingFang SC"/>
              </a:rPr>
              <a:t>从命令行到 dashboard，GAWorld 的操作面覆盖运行、干预和解释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A07D11-5C69-4BAC-99B5-352FC72E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62100"/>
            <a:ext cx="990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FC0C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FC0CA"/>
                </a:solidFill>
                <a:latin typeface="Aptos"/>
                <a:ea typeface="Aptos"/>
                <a:cs typeface="Aptos"/>
              </a:rPr>
              <a:t>The operating surface covers simulation, intervention and explanation.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F1263E-AF05-44ED-84C6-D653E798C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1573CF-6E1C-44FF-9864-82497C41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B7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FCE6CB-CBEC-4D93-8D79-AA390F3F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8597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252E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C252E"/>
                </a:solidFill>
                <a:latin typeface="PingFang SC"/>
                <a:ea typeface="PingFang SC"/>
                <a:cs typeface="PingFang SC"/>
              </a:rPr>
              <a:t>运行仿真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E47D04-FB8D-4DED-B7ED-4F2905CC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076450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7B7A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7B7A7"/>
                </a:solidFill>
                <a:latin typeface="Aptos"/>
                <a:ea typeface="Aptos"/>
                <a:cs typeface="Aptos"/>
              </a:rPr>
              <a:t>run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E285C3-857B-4705-BC49-5D7F66EA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35267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87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873"/>
                </a:solidFill>
                <a:latin typeface="Aptos"/>
                <a:ea typeface="Aptos"/>
                <a:cs typeface="Aptos"/>
              </a:rPr>
              <a:t>python generative_city_sim.py run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613677-CC5A-44EE-9BFF-944B6A1B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52625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352C81-FF24-44D4-8CE7-1AB8DDD5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52625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2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FCE98F-8DEA-4C36-9951-320CB590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8597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252E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C252E"/>
                </a:solidFill>
                <a:latin typeface="PingFang SC"/>
                <a:ea typeface="PingFang SC"/>
                <a:cs typeface="PingFang SC"/>
              </a:rPr>
              <a:t>重置状态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12C3CF-1FD5-49F0-9837-7EF5D9C6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076450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92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923B"/>
                </a:solidFill>
                <a:latin typeface="Aptos"/>
                <a:ea typeface="Aptos"/>
                <a:cs typeface="Aptos"/>
              </a:rPr>
              <a:t>reset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3DAB25-AAD8-4CFB-A705-154400B5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5267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87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873"/>
                </a:solidFill>
                <a:latin typeface="Aptos"/>
                <a:ea typeface="Aptos"/>
                <a:cs typeface="Aptos"/>
              </a:rPr>
              <a:t>python generative_city_sim.py reset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648BB6-95AF-4CA4-8353-DE5EB9FF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19425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C41294-8D9E-450B-8709-92C92EFE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19425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8F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794C21-5BFB-47A4-818D-334AE5E7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5277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252E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C252E"/>
                </a:solidFill>
                <a:latin typeface="PingFang SC"/>
                <a:ea typeface="PingFang SC"/>
                <a:cs typeface="PingFang SC"/>
              </a:rPr>
              <a:t>采访 Agent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5A3CDD-F791-4668-8232-7CF4DB11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143250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8F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8FBF"/>
                </a:solidFill>
                <a:latin typeface="Aptos"/>
                <a:ea typeface="Aptos"/>
                <a:cs typeface="Aptos"/>
              </a:rPr>
              <a:t>interview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9520C8-F524-4678-96F3-0D9FF02C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41947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87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873"/>
                </a:solidFill>
                <a:latin typeface="Aptos"/>
                <a:ea typeface="Aptos"/>
                <a:cs typeface="Aptos"/>
              </a:rPr>
              <a:t>--agent-id 31 --question ...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7D7AE1-FB4D-44C5-9956-0CEACED1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19425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325A94-71FF-4E5E-B770-E4175A80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19425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A8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D3642E-0475-4F6E-A808-C6F0D35A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5277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252E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C252E"/>
                </a:solidFill>
                <a:latin typeface="PingFang SC"/>
                <a:ea typeface="PingFang SC"/>
                <a:cs typeface="PingFang SC"/>
              </a:rPr>
              <a:t>注入 RAG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5E9263-6729-4152-A0F3-D1457AFF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43250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A8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A86E"/>
                </a:solidFill>
                <a:latin typeface="Aptos"/>
                <a:ea typeface="Aptos"/>
                <a:cs typeface="Aptos"/>
              </a:rPr>
              <a:t>rag-add / rag-import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27EDF5-D4DE-4F10-AA58-DE72FC760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41947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87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873"/>
                </a:solidFill>
                <a:latin typeface="Aptos"/>
                <a:ea typeface="Aptos"/>
                <a:cs typeface="Aptos"/>
              </a:rPr>
              <a:t>manual knowledge injection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69B70D-3C82-4AEB-90C1-487D4F70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86225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25F8B0-2C6E-43F0-849E-F390CDAB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86225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85557E-CCC0-4D4D-8810-12323A1E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1957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252E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C252E"/>
                </a:solidFill>
                <a:latin typeface="PingFang SC"/>
                <a:ea typeface="PingFang SC"/>
                <a:cs typeface="PingFang SC"/>
              </a:rPr>
              <a:t>事件对照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6B68D9-7BC2-48F4-A19F-CD204EFF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210050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65A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65A4A"/>
                </a:solidFill>
                <a:latin typeface="Aptos"/>
                <a:ea typeface="Aptos"/>
                <a:cs typeface="Aptos"/>
              </a:rPr>
              <a:t>compare-event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ECF6A1-03C6-4B83-BCA8-918E2931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48627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87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873"/>
                </a:solidFill>
                <a:latin typeface="Aptos"/>
                <a:ea typeface="Aptos"/>
                <a:cs typeface="Aptos"/>
              </a:rPr>
              <a:t>with_event vs without_event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6ABB6C-3CC8-483D-8225-6C6A3C43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86225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9A2092-9435-424E-B97C-74738C3D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86225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74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0D6B2F-4CBE-48E2-BBEC-0DA3D4E6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1957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252E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C252E"/>
                </a:solidFill>
                <a:latin typeface="PingFang SC"/>
                <a:ea typeface="PingFang SC"/>
                <a:cs typeface="PingFang SC"/>
              </a:rPr>
              <a:t>可视化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8EFE63-1256-40F8-AD26-24B5DBFF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210050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C74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C74B8"/>
                </a:solidFill>
                <a:latin typeface="Aptos"/>
                <a:ea typeface="Aptos"/>
                <a:cs typeface="Aptos"/>
              </a:rPr>
              <a:t>dashboard / serve-viz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FC25CF0-5D4D-46DF-81E4-9A3EB20F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48627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87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873"/>
                </a:solidFill>
                <a:latin typeface="Aptos"/>
                <a:ea typeface="Aptos"/>
                <a:cs typeface="Aptos"/>
              </a:rPr>
              <a:t>config, memory, logs, trajectory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2FF5A8-12B8-425F-8CE7-88BBF2DB5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1019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631"/>
          </a:solidFill>
          <a:ln xmlns:a="http://schemas.openxmlformats.org/drawingml/2006/main" w="9525">
            <a:solidFill>
              <a:srgbClr val="2D445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B6A1AEC-3037-46D8-AF17-4580AA30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34025"/>
            <a:ext cx="952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8DDC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E8DDCF"/>
                </a:solidFill>
                <a:latin typeface="PingFang SC"/>
                <a:ea typeface="PingFang SC"/>
                <a:cs typeface="PingFang SC"/>
              </a:rPr>
              <a:t>设计原则 / Design principle: 运行产物默认落到 output/，让日志、记忆、轨迹、访谈和指标可以被后续复盘。</a:t>
            </a:r>
          </a:p>
        </p:txBody>
      </p:sp>
    </p:spTree>
    <p:extLst>
      <p:ext uri="{BB962C8B-B14F-4D97-AF65-F5344CB8AC3E}">
        <p14:creationId xmlns:p14="http://schemas.microsoft.com/office/powerpoint/2010/main" val="133465293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130C24-DE26-4C95-89AC-7F958DE2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B5889A2-7EC1-40BA-8AE1-C59BE495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B7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02E845A-5D26-4893-837F-5B302AD7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DDC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8DDCF"/>
                </a:solidFill>
                <a:latin typeface="Aptos"/>
                <a:ea typeface="Aptos"/>
                <a:cs typeface="Aptos"/>
              </a:rPr>
              <a:t>VALIDATION / 当前可信度边界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3D0B15-9231-499C-8909-0EE0A7D1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B8C1C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B8C1C8"/>
                </a:solidFill>
                <a:latin typeface="Aptos"/>
                <a:ea typeface="Aptos"/>
                <a:cs typeface="Aptos"/>
              </a:rPr>
              <a:t>Sources: benchmark/results/scorecard.md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282786-AA38-427F-BDB7-7FE3E3E89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8C1C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8C1C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31D08B-9DDD-4243-A4C9-617CACE0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1028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1E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7F1E7"/>
                </a:solidFill>
                <a:latin typeface="PingFang SC"/>
                <a:ea typeface="PingFang SC"/>
                <a:cs typeface="PingFang SC"/>
              </a:rPr>
              <a:t>验证状态必须诚实呈现：已有信号，但 benchmark gate 尚未通过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8F8704-ECCB-4D8C-8E93-A4C5C230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62100"/>
            <a:ext cx="990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FC0C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FC0CA"/>
                </a:solidFill>
                <a:latin typeface="Aptos"/>
                <a:ea typeface="Aptos"/>
                <a:cs typeface="Aptos"/>
              </a:rPr>
              <a:t>Validation is honest: useful signals exist, but the benchmark gate is not passed.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F08B80-F741-4F2B-B83B-2CB6D375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3714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B87E46-5AAB-491B-9B53-68247BD7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477979-C5DC-4196-95EC-BFF464C3F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030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252E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C252E"/>
                </a:solidFill>
                <a:latin typeface="Aptos Display"/>
                <a:ea typeface="Aptos Display"/>
                <a:cs typeface="Aptos Display"/>
              </a:rPr>
              <a:t>GAWorld-Bench Scorecard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59C7C6-266B-4A05-BD96-CDFAEBE2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65A4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C65A4A"/>
                </a:solidFill>
                <a:latin typeface="Aptos Display"/>
                <a:ea typeface="Aptos Display"/>
                <a:cs typeface="Aptos Display"/>
              </a:rPr>
              <a:t>UNVERIFIED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D55313-49A5-4DA6-A3C4-B3C240B3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C25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C252E"/>
                </a:solidFill>
                <a:latin typeface="Aptos"/>
                <a:ea typeface="Aptos"/>
                <a:cs typeface="Aptos"/>
              </a:rPr>
              <a:t>composite hint: 0.4425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A3D7F5-188C-4D79-A69C-41B315A2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285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C252E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C252E"/>
                </a:solidFill>
                <a:latin typeface="PingFang SC"/>
                <a:ea typeface="PingFang SC"/>
                <a:cs typeface="PingFang SC"/>
              </a:rPr>
              <a:t>这是趋势性弱证据，不是通过结论。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18B9EF-2261-4664-A88B-656BD293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4340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8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873"/>
                </a:solidFill>
                <a:latin typeface="Aptos"/>
                <a:ea typeface="Aptos"/>
                <a:cs typeface="Aptos"/>
              </a:rPr>
              <a:t>generated: 2026-06-15T00:58:15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482690-24E7-43BF-B99F-5F339AFA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152650"/>
            <a:ext cx="542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E942A3-05DE-44F9-979B-12D4B556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23837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65A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65A4A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B7E46E-C64D-4FC9-940A-A4DE197AF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288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C252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C252E"/>
                </a:solidFill>
                <a:latin typeface="PingFang SC"/>
                <a:ea typeface="PingFang SC"/>
                <a:cs typeface="PingFang SC"/>
              </a:rPr>
              <a:t>宏观经验拟合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14EF24-B082-4B91-8238-79E9F703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288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9485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94853"/>
                </a:solidFill>
                <a:latin typeface="Aptos"/>
                <a:ea typeface="Aptos"/>
                <a:cs typeface="Aptos"/>
              </a:rPr>
              <a:t>0.3849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BF7020-6836-43B3-9810-2E1A35F7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288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65A4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C65A4A"/>
                </a:solidFill>
                <a:latin typeface="PingFang SC"/>
                <a:ea typeface="PingFang SC"/>
                <a:cs typeface="PingFang SC"/>
              </a:rPr>
              <a:t>FAIL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6D69FD-5066-49EA-871B-69F3CF17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667000"/>
            <a:ext cx="542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4E68C4-AF18-46DC-949C-6A52E424C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75272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923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923B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6346E2-B37E-46AF-879E-C2E1D157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432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C252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C252E"/>
                </a:solidFill>
                <a:latin typeface="PingFang SC"/>
                <a:ea typeface="PingFang SC"/>
                <a:cs typeface="PingFang SC"/>
              </a:rPr>
              <a:t>Stylized-facts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ABE88C-6B60-4300-ADFB-38B14301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4320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9485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94853"/>
                </a:solidFill>
                <a:latin typeface="Aptos"/>
                <a:ea typeface="Aptos"/>
                <a:cs typeface="Aptos"/>
              </a:rPr>
              <a:t>n/a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80266E-E440-4510-8FF4-DC9439BF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4320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D992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D9923B"/>
                </a:solidFill>
                <a:latin typeface="PingFang SC"/>
                <a:ea typeface="PingFang SC"/>
                <a:cs typeface="PingFang SC"/>
              </a:rPr>
              <a:t>未实现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F44683-D71A-43EE-99E5-A5A84B7C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181350"/>
            <a:ext cx="542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6F51E5-3A11-4EC6-BCD5-BC80CBE1E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26707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65A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65A4A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06311F-334A-4A8B-A392-B8BAAD14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575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C252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C252E"/>
                </a:solidFill>
                <a:latin typeface="PingFang SC"/>
                <a:ea typeface="PingFang SC"/>
                <a:cs typeface="PingFang SC"/>
              </a:rPr>
              <a:t>因果反事实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20129F-E196-4B6C-8C57-0FACF20E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575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9485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94853"/>
                </a:solidFill>
                <a:latin typeface="Aptos"/>
                <a:ea typeface="Aptos"/>
                <a:cs typeface="Aptos"/>
              </a:rPr>
              <a:t>0.5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1A4BE0-9367-40C0-9DF4-0CF2CFE5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575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65A4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C65A4A"/>
                </a:solidFill>
                <a:latin typeface="PingFang SC"/>
                <a:ea typeface="PingFang SC"/>
                <a:cs typeface="PingFang SC"/>
              </a:rPr>
              <a:t>FAIL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F6F26B-4B56-451F-94FC-0513F187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695700"/>
            <a:ext cx="542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A4E65E-5E0C-463C-AEF3-994BFE2F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78142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923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923B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A786AE-3FB9-41D7-8D50-BB9B0833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719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C252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C252E"/>
                </a:solidFill>
                <a:latin typeface="PingFang SC"/>
                <a:ea typeface="PingFang SC"/>
                <a:cs typeface="PingFang SC"/>
              </a:rPr>
              <a:t>可信度一致性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B5F680-2030-41E7-B24D-6BDFA8FC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7190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9485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94853"/>
                </a:solidFill>
                <a:latin typeface="Aptos"/>
                <a:ea typeface="Aptos"/>
                <a:cs typeface="Aptos"/>
              </a:rPr>
              <a:t>n/a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5CCC3F-947B-45AE-94A0-7A70EA17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77190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D992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D9923B"/>
                </a:solidFill>
                <a:latin typeface="PingFang SC"/>
                <a:ea typeface="PingFang SC"/>
                <a:cs typeface="PingFang SC"/>
              </a:rPr>
              <a:t>未实现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946DFE-8A30-4A39-8016-C5AEC3CF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210050"/>
            <a:ext cx="542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3E8EB1-1BF6-4A8A-8596-1F77FF65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29577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923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923B"/>
                </a:solidFill>
                <a:latin typeface="Aptos"/>
                <a:ea typeface="Aptos"/>
                <a:cs typeface="Aptos"/>
              </a:rPr>
              <a:t>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7C52B21-0699-4948-B8B3-E9EC74F7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862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C252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C252E"/>
                </a:solidFill>
                <a:latin typeface="PingFang SC"/>
                <a:ea typeface="PingFang SC"/>
                <a:cs typeface="PingFang SC"/>
              </a:rPr>
              <a:t>可复现 / 成本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1BCD4E-4297-43DA-A81C-F0B4B9DA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862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9485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94853"/>
                </a:solidFill>
                <a:latin typeface="Aptos"/>
                <a:ea typeface="Aptos"/>
                <a:cs typeface="Aptos"/>
              </a:rPr>
              <a:t>n/a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F7A331-8ADB-4103-B632-1D63DA35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2862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D992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D9923B"/>
                </a:solidFill>
                <a:latin typeface="PingFang SC"/>
                <a:ea typeface="PingFang SC"/>
                <a:cs typeface="PingFang SC"/>
              </a:rPr>
              <a:t>未实现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AA56F09-972B-499A-A52E-3CA2D14D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48250"/>
            <a:ext cx="533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DDC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E8DDCF"/>
                </a:solidFill>
                <a:latin typeface="PingFang SC"/>
                <a:ea typeface="PingFang SC"/>
                <a:cs typeface="PingFang SC"/>
              </a:rPr>
              <a:t>工程含义 / Engineering implication: 下一阶段优先级不是扩大宣传，而是补齐确定性、成本、安慰剂、未实现 tracks 和 comparison_metrics 缺口。</a:t>
            </a:r>
          </a:p>
        </p:txBody>
      </p:sp>
    </p:spTree>
    <p:extLst>
      <p:ext uri="{BB962C8B-B14F-4D97-AF65-F5344CB8AC3E}">
        <p14:creationId xmlns:p14="http://schemas.microsoft.com/office/powerpoint/2010/main" val="211168234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6011DE-DAC5-4740-A8E7-A595E8B4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B388077-F474-435B-A4C0-31B90F6D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B7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2900CD1-5727-4918-AED6-A7D0CE4A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DDC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8DDCF"/>
                </a:solidFill>
                <a:latin typeface="Aptos"/>
                <a:ea typeface="Aptos"/>
                <a:cs typeface="Aptos"/>
              </a:rPr>
              <a:t>ROADMAP / 下一阶段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CB3BBF-12D2-42CC-85BE-6FFD9AD5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B8C1C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B8C1C8"/>
                </a:solidFill>
                <a:latin typeface="Aptos"/>
                <a:ea typeface="Aptos"/>
                <a:cs typeface="Aptos"/>
              </a:rPr>
              <a:t>Sources: README.zh-CN.md; docs/EXPERIMENTS_REPORT.md; benchmark/results/scorecard.md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C6E808-253B-433A-9B1D-925DEDFF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8C1C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8C1C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E3E070-69A1-4D7B-9811-87C04781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1028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1E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7F1E7"/>
                </a:solidFill>
                <a:latin typeface="PingFang SC"/>
                <a:ea typeface="PingFang SC"/>
                <a:cs typeface="PingFang SC"/>
              </a:rPr>
              <a:t>下一阶段目标：把研究原型推进成可复现实验平台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56E5CF-4543-4B46-8931-9F099CAE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62100"/>
            <a:ext cx="990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FC0C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FC0CA"/>
                </a:solidFill>
                <a:latin typeface="Aptos"/>
                <a:ea typeface="Aptos"/>
                <a:cs typeface="Aptos"/>
              </a:rPr>
              <a:t>Next: harden the prototype into a reproducible research platform.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45EEFD-F0C4-448A-A01C-405BF10B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21907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60A6EA-D19C-477D-AFE0-196055D1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2190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B06517-E751-4A83-A504-C7E9970A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514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65A4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C65A4A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EB38D0-7718-402D-B12E-5E888D78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67050"/>
            <a:ext cx="167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C252E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C252E"/>
                </a:solidFill>
                <a:latin typeface="PingFang SC"/>
                <a:ea typeface="PingFang SC"/>
                <a:cs typeface="PingFang SC"/>
              </a:rPr>
              <a:t>可靠性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6CB8BA-7958-4763-AF57-34648E50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00450"/>
            <a:ext cx="1695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9485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94853"/>
                </a:solidFill>
                <a:latin typeface="PingFang SC"/>
                <a:ea typeface="PingFang SC"/>
                <a:cs typeface="PingFang SC"/>
              </a:rPr>
              <a:t>修复阶段切换 / WorkerPool 死锁；完善 LLM fallback 与重试边界。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C6EC6E-361F-418C-B961-F33D644E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47900"/>
            <a:ext cx="21907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690903-3756-4A7B-A3A7-EC490E6A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47900"/>
            <a:ext cx="2190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2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12B3F1-8FED-4BC4-BE13-B0DE758C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71750"/>
            <a:ext cx="514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9923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D9923B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626DB0-C8C6-4B7F-B3C9-034D6F628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067050"/>
            <a:ext cx="167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C252E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C252E"/>
                </a:solidFill>
                <a:latin typeface="PingFang SC"/>
                <a:ea typeface="PingFang SC"/>
                <a:cs typeface="PingFang SC"/>
              </a:rPr>
              <a:t>指标激活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8781A4-C6F9-4132-959A-AA769DAE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600450"/>
            <a:ext cx="1695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9485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94853"/>
                </a:solidFill>
                <a:latin typeface="PingFang SC"/>
                <a:ea typeface="PingFang SC"/>
                <a:cs typeface="PingFang SC"/>
              </a:rPr>
              <a:t>让 misinformation_risk、toxicity、PolicySim 指标在实验中真正产生差异。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B09C0A-EBD1-4866-9BF9-E31CD8E7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47900"/>
            <a:ext cx="21907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23CAFF-E22B-4661-95E7-F15E32EC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47900"/>
            <a:ext cx="2190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8F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93FD5B-9716-483D-A16C-EEF008B0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71750"/>
            <a:ext cx="514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B8FB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6B8FBF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511611-F9F6-48E3-BB82-AB6D95529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67050"/>
            <a:ext cx="167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C252E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C252E"/>
                </a:solidFill>
                <a:latin typeface="PingFang SC"/>
                <a:ea typeface="PingFang SC"/>
                <a:cs typeface="PingFang SC"/>
              </a:rPr>
              <a:t>Benchmark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BB4C93-8515-4026-871C-A28C1D85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00450"/>
            <a:ext cx="1695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9485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94853"/>
                </a:solidFill>
                <a:latin typeface="PingFang SC"/>
                <a:ea typeface="PingFang SC"/>
                <a:cs typeface="PingFang SC"/>
              </a:rPr>
              <a:t>补齐 stylized facts、可信度一致性、成本和确定性评估。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0A8368-9E6E-4947-877C-E41EA9E4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47900"/>
            <a:ext cx="21907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3D2225-765C-4542-88CE-FF01CF91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47900"/>
            <a:ext cx="2190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B7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377E0E-A888-4A8B-81AF-F5C0DFE4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71750"/>
            <a:ext cx="514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7B7A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37B7A7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22A115-AF62-42B7-A04F-C00F5C68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67050"/>
            <a:ext cx="167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C252E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C252E"/>
                </a:solidFill>
                <a:latin typeface="PingFang SC"/>
                <a:ea typeface="PingFang SC"/>
                <a:cs typeface="PingFang SC"/>
              </a:rPr>
              <a:t>规模化演示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E4D301-004D-4D09-85A3-328EE61AC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1695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9485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94853"/>
                </a:solidFill>
                <a:latin typeface="PingFang SC"/>
                <a:ea typeface="PingFang SC"/>
                <a:cs typeface="PingFang SC"/>
              </a:rPr>
              <a:t>稳定 dashboard、轨迹回放、城市地图生成和可复现实验包。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E8A324-D84B-4C33-8138-C0C42170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14950"/>
            <a:ext cx="952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631"/>
          </a:solidFill>
          <a:ln xmlns:a="http://schemas.openxmlformats.org/drawingml/2006/main" w="9525">
            <a:solidFill>
              <a:srgbClr val="2D445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072211-1A89-428D-B8BA-E01D96EF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29250"/>
            <a:ext cx="895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DDC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E8DDCF"/>
                </a:solidFill>
                <a:latin typeface="PingFang SC"/>
                <a:ea typeface="PingFang SC"/>
                <a:cs typeface="PingFang SC"/>
              </a:rPr>
              <a:t>一句话 / In one sentence: GAWorld 的价值在于把 LLM 驱动的城市行为生成，转化为能被干预、回放、比较和验证的实验系统。</a:t>
            </a:r>
          </a:p>
        </p:txBody>
      </p:sp>
    </p:spTree>
    <p:extLst>
      <p:ext uri="{BB962C8B-B14F-4D97-AF65-F5344CB8AC3E}">
        <p14:creationId xmlns:p14="http://schemas.microsoft.com/office/powerpoint/2010/main" val="20780486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2026-06-16T15:59:46.9790000Z</dcterms:created>
  <dcterms:modified xsi:type="dcterms:W3CDTF">2026-06-16T15:59:46.9790000Z</dcterms:modified>
</coreProperties>
</file>