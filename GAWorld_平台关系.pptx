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E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平台生态  ·  ECOSYSTEM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 与外部平台的协作关系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70432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GAWorld 为中心：向下依托基座 · 横向与 FOS 协同 · 向上支撑应用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45920"/>
            <a:ext cx="64008" cy="56692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6276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上层应用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195681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 输出的能力所支撑的下游场景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3328416"/>
            <a:ext cx="64008" cy="56692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3101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平台与协作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49808" y="363931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FOS 等智能体平台双向互补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5248656"/>
            <a:ext cx="64008" cy="566928"/>
          </a:xfrm>
          <a:prstGeom prst="rect">
            <a:avLst/>
          </a:prstGeom>
          <a:solidFill>
            <a:srgbClr val="0E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52303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基座支撑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49808" y="555955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社会科学理论与数据算力构成底层基座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80560" y="3063240"/>
            <a:ext cx="3200400" cy="960120"/>
          </a:xfrm>
          <a:prstGeom prst="roundRect">
            <a:avLst>
              <a:gd name="adj" fmla="val 7619"/>
            </a:avLst>
          </a:prstGeom>
          <a:solidFill>
            <a:srgbClr val="102A4C"/>
          </a:solidFill>
          <a:ln/>
          <a:effectLst>
            <a:outerShdw sx="100000" sy="100000" kx="0" ky="0" algn="bl" rotWithShape="0" blurRad="127000" dist="25400" dir="8100000">
              <a:srgbClr val="9DB0C8">
                <a:alpha val="30000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3364992"/>
            <a:ext cx="365760" cy="3657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57800" y="30632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448056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D4B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生成式多智能体社会仿真平台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183380" y="157276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88900" dist="25400" dir="8100000">
              <a:srgbClr val="9DB0C8">
                <a:alpha val="25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66260" y="1764792"/>
            <a:ext cx="365760" cy="365760"/>
          </a:xfrm>
          <a:prstGeom prst="ellipse">
            <a:avLst/>
          </a:prstGeom>
          <a:solidFill>
            <a:srgbClr val="DFF3F0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847088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86884" y="1572768"/>
            <a:ext cx="1106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政策优化</a:t>
            </a:r>
            <a:endParaRPr lang="en-US" sz="1350" dirty="0"/>
          </a:p>
        </p:txBody>
      </p:sp>
      <p:sp>
        <p:nvSpPr>
          <p:cNvPr id="22" name="Shape 18"/>
          <p:cNvSpPr/>
          <p:nvPr/>
        </p:nvSpPr>
        <p:spPr>
          <a:xfrm>
            <a:off x="6195060" y="157276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  <a:effectLst>
            <a:outerShdw sx="100000" sy="100000" kx="0" ky="0" algn="bl" rotWithShape="0" blurRad="88900" dist="25400" dir="8100000">
              <a:srgbClr val="9DB0C8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77940" y="1764792"/>
            <a:ext cx="365760" cy="365760"/>
          </a:xfrm>
          <a:prstGeom prst="ellipse">
            <a:avLst/>
          </a:prstGeom>
          <a:solidFill>
            <a:srgbClr val="DFF3F0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1847088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798564" y="1572768"/>
            <a:ext cx="1106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众包交易</a:t>
            </a:r>
            <a:endParaRPr lang="en-US" sz="1350" dirty="0"/>
          </a:p>
        </p:txBody>
      </p:sp>
      <p:sp>
        <p:nvSpPr>
          <p:cNvPr id="26" name="Text 21"/>
          <p:cNvSpPr/>
          <p:nvPr/>
        </p:nvSpPr>
        <p:spPr>
          <a:xfrm>
            <a:off x="8087868" y="1627632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6080760" y="2395728"/>
            <a:ext cx="0" cy="667512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28" name="Shape 23"/>
          <p:cNvSpPr/>
          <p:nvPr/>
        </p:nvSpPr>
        <p:spPr>
          <a:xfrm>
            <a:off x="4183380" y="5074920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102A4C"/>
          </a:solidFill>
          <a:ln/>
          <a:effectLst>
            <a:outerShdw sx="100000" sy="100000" kx="0" ky="0" algn="bl" rotWithShape="0" blurRad="114300" dist="25400" dir="8100000">
              <a:srgbClr val="9DB0C8">
                <a:alpha val="2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347972" y="5266944"/>
            <a:ext cx="365760" cy="365760"/>
          </a:xfrm>
          <a:prstGeom prst="ellipse">
            <a:avLst/>
          </a:prstGeom>
          <a:solidFill>
            <a:srgbClr val="16315A"/>
          </a:solidFill>
          <a:ln w="12700">
            <a:solidFill>
              <a:srgbClr val="0E9488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0268" y="5349240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750308" y="507492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社会科学理论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074920" y="4096512"/>
            <a:ext cx="0" cy="978408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33" name="Shape 27"/>
          <p:cNvSpPr/>
          <p:nvPr/>
        </p:nvSpPr>
        <p:spPr>
          <a:xfrm>
            <a:off x="6195060" y="5074920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102A4C"/>
          </a:solidFill>
          <a:ln/>
          <a:effectLst>
            <a:outerShdw sx="100000" sy="100000" kx="0" ky="0" algn="bl" rotWithShape="0" blurRad="114300" dist="25400" dir="8100000">
              <a:srgbClr val="9DB0C8">
                <a:alpha val="28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359652" y="5266944"/>
            <a:ext cx="365760" cy="365760"/>
          </a:xfrm>
          <a:prstGeom prst="ellipse">
            <a:avLst/>
          </a:prstGeom>
          <a:solidFill>
            <a:srgbClr val="16315A"/>
          </a:solidFill>
          <a:ln w="12700">
            <a:solidFill>
              <a:srgbClr val="0E9488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1948" y="5349240"/>
            <a:ext cx="201168" cy="201168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761988" y="5074920"/>
            <a:ext cx="1143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仿真数据 / 算力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7086600" y="4096512"/>
            <a:ext cx="0" cy="978408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38" name="Shape 31"/>
          <p:cNvSpPr/>
          <p:nvPr/>
        </p:nvSpPr>
        <p:spPr>
          <a:xfrm>
            <a:off x="9784080" y="306324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EAF1F9"/>
          </a:solidFill>
          <a:ln w="25400">
            <a:solidFill>
              <a:srgbClr val="0E9488"/>
            </a:solidFill>
            <a:prstDash val="solid"/>
          </a:ln>
          <a:effectLst>
            <a:outerShdw sx="100000" sy="100000" kx="0" ky="0" algn="bl" rotWithShape="0" blurRad="88900" dist="25400" dir="8100000">
              <a:srgbClr val="9DB0C8">
                <a:alpha val="25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0112" y="3374136"/>
            <a:ext cx="347472" cy="347472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10460736" y="3063240"/>
            <a:ext cx="1152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FOS</a:t>
            </a:r>
            <a:endParaRPr lang="en-US" sz="2100" dirty="0"/>
          </a:p>
        </p:txBody>
      </p:sp>
      <p:sp>
        <p:nvSpPr>
          <p:cNvPr id="41" name="Text 33"/>
          <p:cNvSpPr/>
          <p:nvPr/>
        </p:nvSpPr>
        <p:spPr>
          <a:xfrm>
            <a:off x="9784080" y="405993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外部智能体平台</a:t>
            </a:r>
            <a:endParaRPr lang="en-US" sz="950" dirty="0"/>
          </a:p>
        </p:txBody>
      </p:sp>
      <p:sp>
        <p:nvSpPr>
          <p:cNvPr id="42" name="Shape 34"/>
          <p:cNvSpPr/>
          <p:nvPr/>
        </p:nvSpPr>
        <p:spPr>
          <a:xfrm>
            <a:off x="7726680" y="3337560"/>
            <a:ext cx="2011680" cy="0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tailEnd type="triangle"/>
          </a:ln>
        </p:spPr>
      </p:sp>
      <p:sp>
        <p:nvSpPr>
          <p:cNvPr id="43" name="Shape 35"/>
          <p:cNvSpPr/>
          <p:nvPr/>
        </p:nvSpPr>
        <p:spPr>
          <a:xfrm>
            <a:off x="7726680" y="3739896"/>
            <a:ext cx="2011680" cy="0"/>
          </a:xfrm>
          <a:prstGeom prst="line">
            <a:avLst/>
          </a:prstGeom>
          <a:noFill/>
          <a:ln w="31750">
            <a:solidFill>
              <a:srgbClr val="0E9488"/>
            </a:solidFill>
            <a:prstDash val="solid"/>
            <a:headEnd type="triangle"/>
          </a:ln>
        </p:spPr>
      </p:sp>
      <p:sp>
        <p:nvSpPr>
          <p:cNvPr id="44" name="Text 36"/>
          <p:cNvSpPr/>
          <p:nvPr/>
        </p:nvSpPr>
        <p:spPr>
          <a:xfrm>
            <a:off x="7680960" y="300837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E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7680960" y="3849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E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理论验证</a:t>
            </a:r>
            <a:endParaRPr lang="en-US" sz="1150" dirty="0"/>
          </a:p>
        </p:txBody>
      </p:sp>
      <p:sp>
        <p:nvSpPr>
          <p:cNvPr id="46" name="Shape 38"/>
          <p:cNvSpPr/>
          <p:nvPr/>
        </p:nvSpPr>
        <p:spPr>
          <a:xfrm>
            <a:off x="566928" y="6199632"/>
            <a:ext cx="11055096" cy="512064"/>
          </a:xfrm>
          <a:prstGeom prst="roundRect">
            <a:avLst>
              <a:gd name="adj" fmla="val 10714"/>
            </a:avLst>
          </a:prstGeom>
          <a:solidFill>
            <a:srgbClr val="F3F7FC"/>
          </a:solidFill>
          <a:ln w="12700">
            <a:solidFill>
              <a:srgbClr val="DCE5F0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868680" y="6199632"/>
            <a:ext cx="10515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A4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</a:t>
            </a:r>
            <a:pPr indent="0" marL="0">
              <a:buNone/>
            </a:pPr>
            <a:r>
              <a:rPr lang="en-US" sz="1150" dirty="0">
                <a:solidFill>
                  <a:srgbClr val="1F2D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GAWorld 向下依托社会科学理论与数据算力，横向与 FOS 互补（输出 Agents · 获得理论验证），向上支撑政策优化、众包交易等社会应用。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GAWorld 平台关系</dc:title>
  <dc:subject>PptxGenJS Presentation</dc:subject>
  <dc:creator>PptxGenJS</dc:creator>
  <cp:lastModifiedBy>PptxGenJS</cp:lastModifiedBy>
  <cp:revision>1</cp:revision>
  <dcterms:created xsi:type="dcterms:W3CDTF">2026-06-20T06:05:40Z</dcterms:created>
  <dcterms:modified xsi:type="dcterms:W3CDTF">2026-06-20T06:05:40Z</dcterms:modified>
</cp:coreProperties>
</file>