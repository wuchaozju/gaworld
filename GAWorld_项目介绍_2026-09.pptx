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调用次数</c:v>
                </c:pt>
              </c:strCache>
            </c:strRef>
          </c:tx>
          <c:spPr>
            <a:solidFill>
              <a:srgbClr val="2E7D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24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预算 0</c:v>
                  </c:pt>
                  <c:pt idx="1">
                    <c:v>预算 10</c:v>
                  </c:pt>
                  <c:pt idx="2">
                    <c:v>预算 20（默认）</c:v>
                  </c:pt>
                  <c:pt idx="3">
                    <c:v>预算 50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1140</c:v>
                </c:pt>
                <c:pt idx="1">
                  <c:v>60540</c:v>
                </c:pt>
                <c:pt idx="2">
                  <c:v>119940</c:v>
                </c:pt>
                <c:pt idx="3">
                  <c:v>298140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A24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A24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600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L2 最差 z</c:v>
                </c:pt>
              </c:strCache>
            </c:strRef>
          </c:tx>
          <c:spPr>
            <a:solidFill>
              <a:srgbClr val="A8402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24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8402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8402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7D5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8402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0.0</c:v>
                  </c:pt>
                  <c:pt idx="1">
                    <c:v>0.5</c:v>
                  </c:pt>
                  <c:pt idx="2">
                    <c:v>0.7</c:v>
                  </c:pt>
                  <c:pt idx="3">
                    <c:v>0.9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3.87</c:v>
                </c:pt>
                <c:pt idx="1">
                  <c:v>2.26</c:v>
                </c:pt>
                <c:pt idx="2">
                  <c:v>0.88</c:v>
                </c:pt>
                <c:pt idx="3">
                  <c:v>4.14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F2A24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E7F76"/>
                    </a:solidFill>
                    <a:latin typeface="Microsoft YaHei"/>
                  </a:defRPr>
                </a:pPr>
                <a:r>
                  <a:rPr sz="1000" b="0" i="0" u="none" strike="noStrike">
                    <a:solidFill>
                      <a:srgbClr val="6E7F76"/>
                    </a:solidFill>
                    <a:latin typeface="Microsoft YaHei"/>
                  </a:rPr>
                  <a:t>网络耦合强度（L2 最差 z，越小越好）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A24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.2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GAWorld：面向城市社会实验的生成式多智能体仿真平台。本次汇报面向学术同行，重点讲科学定位、方法论与验证设计，而不是功能清单。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三个「不是」是这次汇报的骨架：可对照、可归因、可证伪。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B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3258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325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572768" y="14173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9CC7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GENERATIVE AGENT WORLD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GAWorld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3101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FE3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面向城市社会实验的生成式多智能体仿真平台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8862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可对照 · 可归因 · 可证伪 —— 一个把社会科学实验设计写进代码的仿真沙盒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800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223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303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模块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4800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7 万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5303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行核心代码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4800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161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5303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测试文件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915400" y="4800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8915400" y="5303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座已建城市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60533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6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吴超  ·  浙江大学  ·  2026 年 9 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0E3B28"/>
          </a:solidFill>
          <a:ln w="12700">
            <a:solidFill>
              <a:srgbClr val="0E3B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32688" y="365760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 / POSITIONING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772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GAWorld 是什么，以及三个「不是」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813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一个可控制的社会实验场：同一批智能体，在不同事件或政策下反复运行，差异可归因到干预本身。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121408"/>
            <a:ext cx="3493008" cy="2304288"/>
          </a:xfrm>
          <a:prstGeom prst="roundRect">
            <a:avLst>
              <a:gd name="adj" fmla="val 2381"/>
            </a:avLst>
          </a:prstGeom>
          <a:solidFill>
            <a:srgbClr val="F4F7F4"/>
          </a:solidFill>
          <a:ln w="12700">
            <a:solidFill>
              <a:srgbClr val="F4F7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239572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A8402C"/>
          </a:solidFill>
          <a:ln w="12700">
            <a:solidFill>
              <a:srgbClr val="A8402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2395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2834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 Agent 演示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3246120"/>
            <a:ext cx="29626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演示关心「像不像」，实验关心「差异是否来自干预」。所有世界共用居民、种子、天数与模型，只差事件。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79392" y="2121408"/>
            <a:ext cx="3493008" cy="2304288"/>
          </a:xfrm>
          <a:prstGeom prst="roundRect">
            <a:avLst>
              <a:gd name="adj" fmla="val 2381"/>
            </a:avLst>
          </a:prstGeom>
          <a:solidFill>
            <a:srgbClr val="F4F7F4"/>
          </a:solidFill>
          <a:ln w="12700">
            <a:solidFill>
              <a:srgbClr val="F4F7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53712" y="239572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A8402C"/>
          </a:solidFill>
          <a:ln w="12700">
            <a:solidFill>
              <a:srgbClr val="A8402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53712" y="2395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53712" y="2834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不是传统 ABM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53712" y="3246120"/>
            <a:ext cx="29626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ABM 的微观行为规则由建模者手写；GAWorld 让行为来自带记忆的生成式认知，规则从画像与经历中涌现。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91856" y="2121408"/>
            <a:ext cx="3493008" cy="2304288"/>
          </a:xfrm>
          <a:prstGeom prst="roundRect">
            <a:avLst>
              <a:gd name="adj" fmla="val 2381"/>
            </a:avLst>
          </a:prstGeom>
          <a:solidFill>
            <a:srgbClr val="F4F7F4"/>
          </a:solidFill>
          <a:ln w="12700">
            <a:solidFill>
              <a:srgbClr val="F4F7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66176" y="239572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A8402C"/>
          </a:solidFill>
          <a:ln w="12700">
            <a:solidFill>
              <a:srgbClr val="A8402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66176" y="2395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266176" y="2834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 LLM 角色扮演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266176" y="3246120"/>
            <a:ext cx="29626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角色扮演没有守恒约束与状态账本；GAWorld 有货币守恒审计、状态变量、社交图与可复现种子。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" y="4828032"/>
            <a:ext cx="11027664" cy="841248"/>
          </a:xfrm>
          <a:prstGeom prst="roundRect">
            <a:avLst>
              <a:gd name="adj" fmla="val 6522"/>
            </a:avLst>
          </a:prstGeom>
          <a:solidFill>
            <a:srgbClr val="E9F0EB"/>
          </a:solidFill>
          <a:ln w="12700">
            <a:solidFill>
              <a:srgbClr val="E9F0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8680" y="4828032"/>
            <a:ext cx="10424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研究场景：城市治理与政策仿真 · 智能体记忆与行为一致性实验 · 社会行为与风险传播 · 复杂系统教学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155680" y="632764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0E3B28"/>
          </a:solidFill>
          <a:ln w="12700">
            <a:solidFill>
              <a:srgbClr val="0E3B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32688" y="365760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/ MOTIVATION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772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微观行为规则从哪里来？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5358384" cy="2148840"/>
          </a:xfrm>
          <a:prstGeom prst="roundRect">
            <a:avLst>
              <a:gd name="adj" fmla="val 2553"/>
            </a:avLst>
          </a:prstGeom>
          <a:solidFill>
            <a:srgbClr val="F4F7F4"/>
          </a:solidFill>
          <a:ln w="12700">
            <a:solidFill>
              <a:srgbClr val="F4F7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7556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ABM 的困境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148840"/>
            <a:ext cx="479145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Schelling 的隔离模型只需一条规则就能涌现宏观格局，这是 ABM 的魅力；但一旦要回答真实政策问题，建模者必须手写几十条行为规则，而这些规则本身没有经验来源——模型越复杂，结论越像是把假设重新读了一遍。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36208" y="1572768"/>
            <a:ext cx="5358384" cy="2148840"/>
          </a:xfrm>
          <a:prstGeom prst="roundRect">
            <a:avLst>
              <a:gd name="adj" fmla="val 2553"/>
            </a:avLst>
          </a:prstGeom>
          <a:solidFill>
            <a:srgbClr val="F4F7F4"/>
          </a:solidFill>
          <a:ln w="12700">
            <a:solidFill>
              <a:srgbClr val="F4F7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37960" y="17556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生成式智能体带来的转机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148840"/>
            <a:ext cx="479145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Park 等 (2023) 证明「记忆—反思—计划」循环能产生可信的日常行为；Park 等 (2024) 进一步用 1,052 人的深度访谈构建智能体，其在社会调查问卷上的作答，达到受访者本人两周后自我复现水平的约 85%。行为规则第一次有了可被数据约束的来源。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3913632"/>
            <a:ext cx="11027664" cy="1691640"/>
          </a:xfrm>
          <a:prstGeom prst="roundRect">
            <a:avLst>
              <a:gd name="adj" fmla="val 3243"/>
            </a:avLst>
          </a:prstGeom>
          <a:solidFill>
            <a:srgbClr val="E9F0EB"/>
          </a:solidFill>
          <a:ln w="12700">
            <a:solidFill>
              <a:srgbClr val="E9F0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409651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于是问题变成：可信度怎么证明？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498848"/>
            <a:ext cx="10424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Windrum 等 (2007) 与 Farmer &amp; Axtell (2025) 反复指出：ABM 的瓶颈从来不是能不能跑，而是经验验证。生成式智能体把这个问题放大了——LLM 的流畅文本天然容易被人判为「像真人」。GAWorld 因此把验证套件当作一等公民：先定义「什么算成功」，再谈系统做了什么。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632764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Schelling 1971；Park et al. 2023, 2024；Windrum et al. 2007；Farmer &amp; Axtell 2025（详见参考文献页）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11155680" y="632764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0E3B28"/>
          </a:solidFill>
          <a:ln w="12700">
            <a:solidFill>
              <a:srgbClr val="0E3B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32688" y="365760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相关工作 / RELATED WORK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772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同类系统的谱系与 GAWorld 的位置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5544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3675888" y="15544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 / 场景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870448" y="15544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核心机制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430768" y="1554480"/>
            <a:ext cx="3163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主要贡献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975104"/>
            <a:ext cx="11247120" cy="731520"/>
          </a:xfrm>
          <a:prstGeom prst="roundRect">
            <a:avLst>
              <a:gd name="adj" fmla="val 7500"/>
            </a:avLst>
          </a:prstGeom>
          <a:solidFill>
            <a:srgbClr val="F4F7F4"/>
          </a:solidFill>
          <a:ln w="12700">
            <a:solidFill>
              <a:srgbClr val="F4F7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1975104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Generative Agents (UIST'23)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675888" y="1975104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 人 · Smallville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870448" y="1975104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记忆流 / 反思 / 计划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430768" y="1975104"/>
            <a:ext cx="31638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可信日常行为的存在性证明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11247120" cy="731520"/>
          </a:xfrm>
          <a:prstGeom prst="roundRect">
            <a:avLst>
              <a:gd name="adj" fmla="val 7500"/>
            </a:avLst>
          </a:prstGeom>
          <a:solidFill>
            <a:srgbClr val="F4F7F4"/>
          </a:solidFill>
          <a:ln w="12700">
            <a:solidFill>
              <a:srgbClr val="F4F7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" y="27432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1,000 People (2024)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675888" y="27432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1,052 人 · 访谈驱动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870448" y="27432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个体访谈 → 智能体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430768" y="2743200"/>
            <a:ext cx="31638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个体级复现度（GSS 一致性）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511296"/>
            <a:ext cx="11247120" cy="731520"/>
          </a:xfrm>
          <a:prstGeom prst="roundRect">
            <a:avLst>
              <a:gd name="adj" fmla="val 7500"/>
            </a:avLst>
          </a:prstGeom>
          <a:solidFill>
            <a:srgbClr val="F4F7F4"/>
          </a:solidFill>
          <a:ln w="12700">
            <a:solidFill>
              <a:srgbClr val="F4F7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928" y="3511296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AgentSociety (2025)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675888" y="3511296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万级 · 城市空间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870448" y="3511296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大规模社会实验平台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430768" y="3511296"/>
            <a:ext cx="31638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宏观社会现象的可扩展性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279392"/>
            <a:ext cx="11247120" cy="731520"/>
          </a:xfrm>
          <a:prstGeom prst="roundRect">
            <a:avLst>
              <a:gd name="adj" fmla="val 7500"/>
            </a:avLst>
          </a:prstGeom>
          <a:solidFill>
            <a:srgbClr val="F4F7F4"/>
          </a:solidFill>
          <a:ln w="12700">
            <a:solidFill>
              <a:srgbClr val="F4F7F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" y="427939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OASIS (2024)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675888" y="4279392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百万级 · 社交平台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870448" y="427939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推荐流 + 信息传播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430768" y="4279392"/>
            <a:ext cx="31638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平台尺度的信息级联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5047488"/>
            <a:ext cx="11247120" cy="731520"/>
          </a:xfrm>
          <a:prstGeom prst="roundRect">
            <a:avLst>
              <a:gd name="adj" fmla="val 7500"/>
            </a:avLst>
          </a:prstGeom>
          <a:solidFill>
            <a:srgbClr val="E9F0EB"/>
          </a:solidFill>
          <a:ln w="12700">
            <a:solidFill>
              <a:srgbClr val="E9F0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66928" y="504748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GAWorld（本工作）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3675888" y="5047488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50–500 人 + 群体层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870448" y="504748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微内核插件 + 闭环经济 / 家庭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430768" y="5047488"/>
            <a:ext cx="31638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分层验证套件与反事实归因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587044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差异不在规模，而在「跑完之后能不能下结论」：前四者以系统能力与现象复现为主要贡献，GAWorld 把判定标准本身做成可运行的套件。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1155680" y="632764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3B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32688" y="365760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CC7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设计主张 / DESIGN CLAIMS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772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三条贯穿全系统的设计主张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627632"/>
            <a:ext cx="11027664" cy="1243584"/>
          </a:xfrm>
          <a:prstGeom prst="roundRect">
            <a:avLst>
              <a:gd name="adj" fmla="val 4412"/>
            </a:avLst>
          </a:prstGeom>
          <a:solidFill>
            <a:srgbClr val="16523A"/>
          </a:solidFill>
          <a:ln w="12700">
            <a:solidFill>
              <a:srgbClr val="1652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755648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E9E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173736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可对照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5798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CC7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任何结论都必须来自一次对照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349240" y="1755648"/>
            <a:ext cx="59893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8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平行世界共用居民、种子、天数与模型，唯一差异是事件；配置补丁对应「政策」，事件列表对应「冲击」。安慰剂世界是一等公民。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3072384"/>
            <a:ext cx="11027664" cy="1243584"/>
          </a:xfrm>
          <a:prstGeom prst="roundRect">
            <a:avLst>
              <a:gd name="adj" fmla="val 4412"/>
            </a:avLst>
          </a:prstGeom>
          <a:solidFill>
            <a:srgbClr val="16523A"/>
          </a:solidFill>
          <a:ln w="12700">
            <a:solidFill>
              <a:srgbClr val="1652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200400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E9E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318211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可归因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0" y="360273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CC7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机制必须能被单独关掉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349240" y="3200400"/>
            <a:ext cx="59893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8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阶段认知管线与 9 个插件都可消融；大五人格拆成 rules / prompt / voice 三条独立通道，才能把「决策变了」和「文风变了」分开。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4517136"/>
            <a:ext cx="11027664" cy="1243584"/>
          </a:xfrm>
          <a:prstGeom prst="roundRect">
            <a:avLst>
              <a:gd name="adj" fmla="val 4412"/>
            </a:avLst>
          </a:prstGeom>
          <a:solidFill>
            <a:srgbClr val="16523A"/>
          </a:solidFill>
          <a:ln w="12700">
            <a:solidFill>
              <a:srgbClr val="1652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4645152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E9E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4626864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可证伪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1828800" y="50474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CC7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先写判定标准，再写系统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4645152"/>
            <a:ext cx="59893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8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GAWorld-Bench 分 5 个 track 且不塌缩成单一标量；群体近似有 L1–L4 验证门，分水岭层不过则退出码非零，可直接进 CI。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1155680" y="632764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0E3B28"/>
          </a:solidFill>
          <a:ln w="12700">
            <a:solidFill>
              <a:srgbClr val="0E3B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32688" y="365760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 / ARCHITECTURE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772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社会中心的微内核 + 插件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554480"/>
            <a:ext cx="11027664" cy="1298448"/>
          </a:xfrm>
          <a:prstGeom prst="roundRect">
            <a:avLst>
              <a:gd name="adj" fmla="val 4225"/>
            </a:avLst>
          </a:prstGeom>
          <a:solidFill>
            <a:srgbClr val="E9F0EB"/>
          </a:solidFill>
          <a:ln w="12700">
            <a:solidFill>
              <a:srgbClr val="E9F0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68249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内核 gaworld/kernel · 零领域逻辑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68680" y="2084832"/>
            <a:ext cx="166420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9DCD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084832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Clock 时钟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51760" y="2084832"/>
            <a:ext cx="166420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9DCD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51760" y="2084832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EventBus 事件总线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34840" y="2084832"/>
            <a:ext cx="166420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9DCD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34840" y="2084832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PluginRegistry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2084832"/>
            <a:ext cx="166420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9DCD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2084832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Controller 干预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01000" y="2084832"/>
            <a:ext cx="166420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9DCD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01000" y="2084832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Recorder 事件流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784080" y="2084832"/>
            <a:ext cx="166420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9DCD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784080" y="2084832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SimContext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2999232"/>
            <a:ext cx="11027664" cy="932688"/>
          </a:xfrm>
          <a:prstGeom prst="roundRect">
            <a:avLst>
              <a:gd name="adj" fmla="val 5882"/>
            </a:avLst>
          </a:prstGeom>
          <a:solidFill>
            <a:srgbClr val="F4F7F4"/>
          </a:solidFill>
          <a:ln w="12700">
            <a:solidFill>
              <a:srgbClr val="F4F7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2999232"/>
            <a:ext cx="10424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认知管线 gaworld/sim/pipeline.py · 12 个命名阶段，消融 / 替换 / 插入都只是改 CONFIG["pipeline"]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" y="4078224"/>
            <a:ext cx="11027664" cy="1627632"/>
          </a:xfrm>
          <a:prstGeom prst="roundRect">
            <a:avLst>
              <a:gd name="adj" fmla="val 3371"/>
            </a:avLst>
          </a:prstGeom>
          <a:solidFill>
            <a:srgbClr val="F4F7F4"/>
          </a:solidFill>
          <a:ln w="12700">
            <a:solidFill>
              <a:srgbClr val="F4F7F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8680" y="41879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九个内置插件 · 与第三方扩展走同一套接口（Plugin 子类 + 一行声明，或 pip entry point），主循环零改动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68680" y="4626864"/>
            <a:ext cx="1097280" cy="530352"/>
          </a:xfrm>
          <a:prstGeom prst="roundRect">
            <a:avLst>
              <a:gd name="adj" fmla="val 10345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8680" y="4626864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干预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057400" y="4626864"/>
            <a:ext cx="1097280" cy="530352"/>
          </a:xfrm>
          <a:prstGeom prst="roundRect">
            <a:avLst>
              <a:gd name="adj" fmla="val 10345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057400" y="4626864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46120" y="4626864"/>
            <a:ext cx="1097280" cy="530352"/>
          </a:xfrm>
          <a:prstGeom prst="roundRect">
            <a:avLst>
              <a:gd name="adj" fmla="val 10345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246120" y="4626864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兴趣成长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434840" y="4626864"/>
            <a:ext cx="1097280" cy="530352"/>
          </a:xfrm>
          <a:prstGeom prst="roundRect">
            <a:avLst>
              <a:gd name="adj" fmla="val 10345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434840" y="4626864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人生事件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623560" y="4626864"/>
            <a:ext cx="1097280" cy="530352"/>
          </a:xfrm>
          <a:prstGeom prst="roundRect">
            <a:avLst>
              <a:gd name="adj" fmla="val 10345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623560" y="4626864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经济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812280" y="4626864"/>
            <a:ext cx="1097280" cy="530352"/>
          </a:xfrm>
          <a:prstGeom prst="roundRect">
            <a:avLst>
              <a:gd name="adj" fmla="val 10345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12280" y="4626864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物理感知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001000" y="4626864"/>
            <a:ext cx="1097280" cy="530352"/>
          </a:xfrm>
          <a:prstGeom prst="roundRect">
            <a:avLst>
              <a:gd name="adj" fmla="val 10345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001000" y="4626864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真实工作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9189720" y="4626864"/>
            <a:ext cx="1097280" cy="530352"/>
          </a:xfrm>
          <a:prstGeom prst="roundRect">
            <a:avLst>
              <a:gd name="adj" fmla="val 10345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189720" y="4626864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动态行为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10378440" y="4626864"/>
            <a:ext cx="1097280" cy="530352"/>
          </a:xfrm>
          <a:prstGeom prst="roundRect">
            <a:avLst>
              <a:gd name="adj" fmla="val 10345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0378440" y="4626864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空间偏好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868680" y="5266944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运行时干预 Controller.intervene：set_agent_state / update_config / remove_agent / inject_life_event —— 每次调用自动审计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566928" y="632764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架构参考 Agent-Kernel（Zhejiang University, arXiv:2512.01610）的微内核思想，并按社会仿真的需要重写事件语义与干预审计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11155680" y="632764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0E3B28"/>
          </a:solidFill>
          <a:ln w="12700">
            <a:solidFill>
              <a:srgbClr val="0E3B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32688" y="365760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 / COGNITION PIPELINE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772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每个智能体的一步 = 12 个可配置阶段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719072"/>
            <a:ext cx="1664208" cy="1097280"/>
          </a:xfrm>
          <a:prstGeom prst="roundRect">
            <a:avLst>
              <a:gd name="adj" fmla="val 5000"/>
            </a:avLst>
          </a:prstGeom>
          <a:solidFill>
            <a:srgbClr val="E9F0EB"/>
          </a:solidFill>
          <a:ln w="12700">
            <a:solidFill>
              <a:srgbClr val="D5E3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4944" y="1810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206654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prepare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94944" y="23774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取上下文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32304" y="1719072"/>
            <a:ext cx="1664208" cy="1097280"/>
          </a:xfrm>
          <a:prstGeom prst="roundRect">
            <a:avLst>
              <a:gd name="adj" fmla="val 5000"/>
            </a:avLst>
          </a:prstGeom>
          <a:solidFill>
            <a:srgbClr val="E9F0EB"/>
          </a:solidFill>
          <a:ln w="12700">
            <a:solidFill>
              <a:srgbClr val="D5E3D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60320" y="1810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206654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perceive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23774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环境感知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0" y="1719072"/>
            <a:ext cx="1664208" cy="1097280"/>
          </a:xfrm>
          <a:prstGeom prst="roundRect">
            <a:avLst>
              <a:gd name="adj" fmla="val 5000"/>
            </a:avLst>
          </a:prstGeom>
          <a:solidFill>
            <a:srgbClr val="E9F0EB"/>
          </a:solidFill>
          <a:ln w="12700">
            <a:solidFill>
              <a:srgbClr val="D5E3D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25696" y="1810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425696" y="206654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interrupts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425696" y="23774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需求中断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63056" y="1719072"/>
            <a:ext cx="1664208" cy="1097280"/>
          </a:xfrm>
          <a:prstGeom prst="roundRect">
            <a:avLst>
              <a:gd name="adj" fmla="val 5000"/>
            </a:avLst>
          </a:prstGeom>
          <a:solidFill>
            <a:srgbClr val="E9F0EB"/>
          </a:solidFill>
          <a:ln w="12700">
            <a:solidFill>
              <a:srgbClr val="D5E3D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91072" y="1810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291072" y="206654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291072" y="23774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日程规划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28432" y="1719072"/>
            <a:ext cx="1664208" cy="1097280"/>
          </a:xfrm>
          <a:prstGeom prst="roundRect">
            <a:avLst>
              <a:gd name="adj" fmla="val 5000"/>
            </a:avLst>
          </a:prstGeom>
          <a:solidFill>
            <a:srgbClr val="E9F0EB"/>
          </a:solidFill>
          <a:ln w="12700">
            <a:solidFill>
              <a:srgbClr val="D5E3D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156448" y="1810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156448" y="206654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adjust_activity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156448" y="23774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当日重排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893808" y="1719072"/>
            <a:ext cx="1664208" cy="1097280"/>
          </a:xfrm>
          <a:prstGeom prst="roundRect">
            <a:avLst>
              <a:gd name="adj" fmla="val 5000"/>
            </a:avLst>
          </a:prstGeom>
          <a:solidFill>
            <a:srgbClr val="E9F0EB"/>
          </a:solidFill>
          <a:ln w="12700">
            <a:solidFill>
              <a:srgbClr val="D5E3D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021824" y="1810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0021824" y="206654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move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0021824" y="23774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地图移动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6928" y="3200400"/>
            <a:ext cx="1664208" cy="1097280"/>
          </a:xfrm>
          <a:prstGeom prst="roundRect">
            <a:avLst>
              <a:gd name="adj" fmla="val 5000"/>
            </a:avLst>
          </a:prstGeom>
          <a:solidFill>
            <a:srgbClr val="F4F7F4"/>
          </a:solidFill>
          <a:ln w="12700">
            <a:solidFill>
              <a:srgbClr val="D5E3D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94944" y="32918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694944" y="35478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select_action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94944" y="38587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动作选择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432304" y="3200400"/>
            <a:ext cx="1664208" cy="1097280"/>
          </a:xfrm>
          <a:prstGeom prst="roundRect">
            <a:avLst>
              <a:gd name="adj" fmla="val 5000"/>
            </a:avLst>
          </a:prstGeom>
          <a:solidFill>
            <a:srgbClr val="F4F7F4"/>
          </a:solidFill>
          <a:ln w="12700">
            <a:solidFill>
              <a:srgbClr val="D5E3D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560320" y="32918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2560320" y="35478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reflect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2560320" y="38587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反思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297680" y="3200400"/>
            <a:ext cx="1664208" cy="1097280"/>
          </a:xfrm>
          <a:prstGeom prst="roundRect">
            <a:avLst>
              <a:gd name="adj" fmla="val 5000"/>
            </a:avLst>
          </a:prstGeom>
          <a:solidFill>
            <a:srgbClr val="F4F7F4"/>
          </a:solidFill>
          <a:ln w="12700">
            <a:solidFill>
              <a:srgbClr val="D5E3D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425696" y="32918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4425696" y="35478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update_state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4425696" y="38587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状态更新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163056" y="3200400"/>
            <a:ext cx="1664208" cy="1097280"/>
          </a:xfrm>
          <a:prstGeom prst="roundRect">
            <a:avLst>
              <a:gd name="adj" fmla="val 5000"/>
            </a:avLst>
          </a:prstGeom>
          <a:solidFill>
            <a:srgbClr val="F4F7F4"/>
          </a:solidFill>
          <a:ln w="12700">
            <a:solidFill>
              <a:srgbClr val="D5E3D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291072" y="32918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6291072" y="35478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broadcast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6291072" y="38587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社交广播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028432" y="3200400"/>
            <a:ext cx="1664208" cy="1097280"/>
          </a:xfrm>
          <a:prstGeom prst="roundRect">
            <a:avLst>
              <a:gd name="adj" fmla="val 5000"/>
            </a:avLst>
          </a:prstGeom>
          <a:solidFill>
            <a:srgbClr val="F4F7F4"/>
          </a:solidFill>
          <a:ln w="12700">
            <a:solidFill>
              <a:srgbClr val="D5E3D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156448" y="32918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8156448" y="35478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memorize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8156448" y="38587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记忆写入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9893808" y="3200400"/>
            <a:ext cx="1664208" cy="1097280"/>
          </a:xfrm>
          <a:prstGeom prst="roundRect">
            <a:avLst>
              <a:gd name="adj" fmla="val 5000"/>
            </a:avLst>
          </a:prstGeom>
          <a:solidFill>
            <a:srgbClr val="F4F7F4"/>
          </a:solidFill>
          <a:ln w="12700">
            <a:solidFill>
              <a:srgbClr val="D5E3D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0021824" y="32918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10021824" y="35478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record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10021824" y="38587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事件记录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66928" y="4791456"/>
            <a:ext cx="11027664" cy="1078992"/>
          </a:xfrm>
          <a:prstGeom prst="roundRect">
            <a:avLst>
              <a:gd name="adj" fmla="val 5085"/>
            </a:avLst>
          </a:prstGeom>
          <a:solidFill>
            <a:srgbClr val="E9F0EB"/>
          </a:solidFill>
          <a:ln w="12700">
            <a:solidFill>
              <a:srgbClr val="E9F0EB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68680" y="490118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为什么要命名每个阶段：消融实验的最小代价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868680" y="5248656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想问「去掉反思之后行为还可信吗」，只需从 pipeline 配置里删掉一个阶段名，而不是改一份三千行的主循环。这让「哪一个机制在起作用」成为可回答的问题，而不是只能靠叙述。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11155680" y="632764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0E3B28"/>
          </a:solidFill>
          <a:ln w="12700">
            <a:solidFill>
              <a:srgbClr val="0E3B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32688" y="365760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系统界面 / CONSOLE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772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仿真控制台：一站式本地实验面板</a:t>
            </a:r>
            <a:endParaRPr lang="en-US" sz="2800" dirty="0"/>
          </a:p>
        </p:txBody>
      </p:sp>
      <p:pic>
        <p:nvPicPr>
          <p:cNvPr id="5" name="Image 0" descr="img/c_conso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36192"/>
            <a:ext cx="7360920" cy="4600575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00000">
                <a:alpha val="16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8183880" y="1645920"/>
            <a:ext cx="34290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城市、参与居民、仿真天数、每天秒数、时间步长、随机种子，全部在同一屏内确定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默认模型与日记模型可以分开路由：叙事质量与决策成本互不绑架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LIVE TRACE 直接回放当前运行的地图轨迹，图中为乌镇真实 OSM 路网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配置改动写入 dashboard_config.json，下一次运行生效 —— 与「对运行中仿真排队干预」严格区分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632764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截图取自本机实际运行的 GAWorld 控制台（127.0.0.1:8766），2026-09-18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11155680" y="632764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0E3B28"/>
          </a:solidFill>
          <a:ln w="12700">
            <a:solidFill>
              <a:srgbClr val="0E3B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32688" y="365760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 / AGENT MODEL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772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一位数字居民由什么构成</a:t>
            </a:r>
            <a:endParaRPr lang="en-US" sz="2800" dirty="0"/>
          </a:p>
        </p:txBody>
      </p:sp>
      <p:pic>
        <p:nvPicPr>
          <p:cNvPr id="5" name="Image 0" descr="img/c_stud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5464" y="1536192"/>
            <a:ext cx="6739128" cy="4633151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00000">
                <a:alpha val="16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566928" y="1627632"/>
            <a:ext cx="3749040" cy="1298448"/>
          </a:xfrm>
          <a:prstGeom prst="roundRect">
            <a:avLst>
              <a:gd name="adj" fmla="val 4225"/>
            </a:avLst>
          </a:prstGeom>
          <a:solidFill>
            <a:srgbClr val="F4F7F4"/>
          </a:solidFill>
          <a:ln w="12700">
            <a:solidFill>
              <a:srgbClr val="F4F7F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4672" y="173736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九维状态变量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2066544"/>
            <a:ext cx="33101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emotion / stress / econ_security / city_identity / policy_sensitivity / platform_dependence / risk_preference / voice_propensity / mobility_intent，全部归一化到 [0,1]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66928" y="3090672"/>
            <a:ext cx="3749040" cy="1298448"/>
          </a:xfrm>
          <a:prstGeom prst="roundRect">
            <a:avLst>
              <a:gd name="adj" fmla="val 4225"/>
            </a:avLst>
          </a:prstGeom>
          <a:solidFill>
            <a:srgbClr val="F4F7F4"/>
          </a:solidFill>
          <a:ln w="12700">
            <a:solidFill>
              <a:srgbClr val="F4F7F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04672" y="320040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分层记忆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804672" y="3529584"/>
            <a:ext cx="33101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情节记忆 · 长期总结 · 情境化习惯 · 日级意图，跨天累积并参与检索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66928" y="4553712"/>
            <a:ext cx="3749040" cy="1298448"/>
          </a:xfrm>
          <a:prstGeom prst="roundRect">
            <a:avLst>
              <a:gd name="adj" fmla="val 4225"/>
            </a:avLst>
          </a:prstGeom>
          <a:solidFill>
            <a:srgbClr val="F4F7F4"/>
          </a:solidFill>
          <a:ln w="12700">
            <a:solidFill>
              <a:srgbClr val="F4F7F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4672" y="466344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社交关系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804672" y="4992624"/>
            <a:ext cx="33101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Dunbar 分层（inner / close / acquaintance / weak），带衰减与亲密度排序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566928" y="632764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Studio 的编辑直接写回状态 CSV 与 profile Markdown —— 面板不是只读视图，而是种子数据的编辑器 · Dunbar 1992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11155680" y="632764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0E3B28"/>
          </a:solidFill>
          <a:ln w="12700">
            <a:solidFill>
              <a:srgbClr val="0E3B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32688" y="365760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人格 / BIG FIVE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772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把「人格」做成可归因的变量，而不是文风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3493008" cy="1828800"/>
          </a:xfrm>
          <a:prstGeom prst="roundRect">
            <a:avLst>
              <a:gd name="adj" fmla="val 3000"/>
            </a:avLst>
          </a:prstGeom>
          <a:solidFill>
            <a:srgbClr val="F4F7F4"/>
          </a:solidFill>
          <a:ln w="12700">
            <a:solidFill>
              <a:srgbClr val="F4F7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rules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08483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 · 零 token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14016"/>
            <a:ext cx="301752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动作选择中的加性 style-fit 项；中断阈值、自发行为、社交偶遇概率、决策噪声、冲动绕过、财富驱动上的有界乘子；个人情绪基准点。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79392" y="1572768"/>
            <a:ext cx="3493008" cy="1828800"/>
          </a:xfrm>
          <a:prstGeom prst="roundRect">
            <a:avLst>
              <a:gd name="adj" fmla="val 3000"/>
            </a:avLst>
          </a:prstGeom>
          <a:solidFill>
            <a:srgbClr val="F4F7F4"/>
          </a:solidFill>
          <a:ln w="12700">
            <a:solidFill>
              <a:srgbClr val="F4F7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35424" y="17373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535424" y="208483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进认知提示词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535424" y="2414016"/>
            <a:ext cx="301752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人格锚句注入日程生成、活动调整、目标与新闻提示词 —— 影响的是「打算做什么」。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91856" y="1572768"/>
            <a:ext cx="3493008" cy="1828800"/>
          </a:xfrm>
          <a:prstGeom prst="roundRect">
            <a:avLst>
              <a:gd name="adj" fmla="val 3000"/>
            </a:avLst>
          </a:prstGeom>
          <a:solidFill>
            <a:srgbClr val="F4F7F4"/>
          </a:solidFill>
          <a:ln w="12700">
            <a:solidFill>
              <a:srgbClr val="F4F7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47888" y="17373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voice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247888" y="208483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只进日记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247888" y="2414016"/>
            <a:ext cx="301752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锚句仅进日记提示词 —— 只改叙述口吻，不碰任何决策。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356616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三条通道可独立开关 —— 这正是「决策变了」与「文风变了」能分开归因的前提。关掉全部通道，行为与加入人格之前逐位一致。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66928" y="4096512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4041648"/>
            <a:ext cx="1074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先采样，后写文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人格语料的生成顺序被刻意反转：先独立采样五维 z 分，再据此改写人物设定，而不是从既有文本反推分数。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700016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680" y="4645152"/>
            <a:ext cx="1074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共线性闸门 R² 0.77 → 0.05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改写前，大五维度几乎是已有状态变量的线性组合（最差调整 R²=0.77，O/C/E 三维不合格）；改写后降至 0.05，51/51 位居民全部有分。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53035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8680" y="5248656"/>
            <a:ext cx="1074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特质不漂移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成年人的 OCEAN 每十年仅变化约 0.1–0.2 个标准差，因此特质在构建时一次性种入、运行期间不随机游走。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632764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Roberts &amp; DelVecchio 2000（人格的秩序稳定性）；闸门脚本 scripts/big5_collinearity.py，生成后必跑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1155680" y="632764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0E3B28"/>
          </a:solidFill>
          <a:ln w="12700">
            <a:solidFill>
              <a:srgbClr val="0E3B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32688" y="365760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空间与日程 / SPACE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772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空间树：从建筑到房间再到物件</a:t>
            </a:r>
            <a:endParaRPr lang="en-US" sz="2800" dirty="0"/>
          </a:p>
        </p:txBody>
      </p:sp>
      <p:pic>
        <p:nvPicPr>
          <p:cNvPr id="5" name="Image 0" descr="img/c_village_indo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36192"/>
            <a:ext cx="7068312" cy="4638580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00000">
                <a:alpha val="16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8046720" y="1645920"/>
            <a:ext cx="3547872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沿用 generative_agents 的空间树语义：building(sector) → room(arena) → object，带几何坐标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智能体按活动 slot 落到对应房间，头顶气泡显示当前动作 —— 图中 Maple Court 8 个房间、7 人在场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户型平铺无重叠由单元测试保证（spatial-tree.test.js），索引 API 支持 find / locate / arenaForActivity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室外一侧是真实 OSM 路网与地标；通勤成本、高峰时段、天气都进入出行决策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632764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Park et al. 2023 的空间树表示；截图为本机实际运行的像素小镇回放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11155680" y="632764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0E3B28"/>
          </a:solidFill>
          <a:ln w="12700">
            <a:solidFill>
              <a:srgbClr val="0E3B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32688" y="365760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经济 / CLOSED-LOOP ECONOMY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772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守恒是一条可审计的硬约束</a:t>
            </a:r>
            <a:endParaRPr lang="en-US" sz="2800" dirty="0"/>
          </a:p>
        </p:txBody>
      </p:sp>
      <p:pic>
        <p:nvPicPr>
          <p:cNvPr id="5" name="Image 0" descr="img/c_exter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5464" y="1536192"/>
            <a:ext cx="6739128" cy="4633151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00000">
                <a:alpha val="16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566928" y="1645920"/>
            <a:ext cx="40233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 / 政府 / 银行三个部门池，钱在 agent 与部门之间流转，不凭空产生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每日货币守恒审计：系统总货币必须等于初始存量，漂移可直接读出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个税与五险一金真实代扣、现金约束消费与信贷、共同市场因子投资、智能体间支付路由与熟人借贷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给部门池注资会同步移动守恒基准 —— 有意的注资被记成注资，而不是误报成漏钱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150 个旋钮由配置自身的 JSON 形状生成表单，新增旋钮无需改面板代码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632764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截图中为一次真实运行的读数：收缩期、通胀 2.59%、失业 5.78%、守恒漂移 0，审计通过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11155680" y="632764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0E3B28"/>
          </a:solidFill>
          <a:ln w="12700">
            <a:solidFill>
              <a:srgbClr val="0E3B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32688" y="365760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人口合成 / POPULATION SYNTHESIS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772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从面板旋钮到一座统计上自洽的小镇</a:t>
            </a:r>
            <a:endParaRPr lang="en-US" sz="2800" dirty="0"/>
          </a:p>
        </p:txBody>
      </p:sp>
      <p:pic>
        <p:nvPicPr>
          <p:cNvPr id="5" name="Image 0" descr="img/c_population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54480"/>
            <a:ext cx="6949440" cy="3192399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00000">
                <a:alpha val="16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7790688" y="1554480"/>
            <a:ext cx="3803904" cy="969264"/>
          </a:xfrm>
          <a:prstGeom prst="roundRect">
            <a:avLst>
              <a:gd name="adj" fmla="val 5660"/>
            </a:avLst>
          </a:prstGeom>
          <a:solidFill>
            <a:srgbClr val="F4F7F4"/>
          </a:solidFill>
          <a:ln w="12700">
            <a:solidFill>
              <a:srgbClr val="F4F7F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28432" y="16459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IPF 拟合联合分布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028432" y="1938528"/>
            <a:ext cx="33467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带结构性零的迭代比例拟合，把互相牵制的边缘约束调和成一张联合表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790688" y="2670048"/>
            <a:ext cx="3803904" cy="969264"/>
          </a:xfrm>
          <a:prstGeom prst="roundRect">
            <a:avLst>
              <a:gd name="adj" fmla="val 5660"/>
            </a:avLst>
          </a:prstGeom>
          <a:solidFill>
            <a:srgbClr val="F4F7F4"/>
          </a:solidFill>
          <a:ln w="12700">
            <a:solidFill>
              <a:srgbClr val="F4F7F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028432" y="276148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最大余数法整数化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028432" y="3054096"/>
            <a:ext cx="33467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保证边缘分布在整数人口上精确命中，而不是四舍五入后对不上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790688" y="3785616"/>
            <a:ext cx="3803904" cy="969264"/>
          </a:xfrm>
          <a:prstGeom prst="roundRect">
            <a:avLst>
              <a:gd name="adj" fmla="val 5660"/>
            </a:avLst>
          </a:prstGeom>
          <a:solidFill>
            <a:srgbClr val="F4F7F4"/>
          </a:solidFill>
          <a:ln w="12700">
            <a:solidFill>
              <a:srgbClr val="F4F7F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28432" y="387705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收入的秩变换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028432" y="4169664"/>
            <a:ext cx="33467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让中位数与基尼系数严格成立，同时保留收入与教育、行业的真实相关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790688" y="4901184"/>
            <a:ext cx="3803904" cy="969264"/>
          </a:xfrm>
          <a:prstGeom prst="roundRect">
            <a:avLst>
              <a:gd name="adj" fmla="val 5660"/>
            </a:avLst>
          </a:prstGeom>
          <a:solidFill>
            <a:srgbClr val="F4F7F4"/>
          </a:solidFill>
          <a:ln w="12700">
            <a:solidFill>
              <a:srgbClr val="F4F7F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028432" y="499262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儿童优先建户 + 幂律工作单位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028432" y="5285232"/>
            <a:ext cx="33467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户型是分配结果的读数，而不是预先设定的配额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66928" y="4864608"/>
            <a:ext cx="6949440" cy="1207008"/>
          </a:xfrm>
          <a:prstGeom prst="roundRect">
            <a:avLst>
              <a:gd name="adj" fmla="val 4545"/>
            </a:avLst>
          </a:prstGeom>
          <a:solidFill>
            <a:srgbClr val="E9F0EB"/>
          </a:solidFill>
          <a:ln w="12700">
            <a:solidFill>
              <a:srgbClr val="E9F0E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04672" y="4956048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参数体检：冲突时直接指出该动哪个旋钮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04672" y="5285232"/>
            <a:ext cx="6510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旋钮之间互相牵制（给定家庭结构下，户均人数只能落在 1.8–4.8，中位年龄只能落在 26–60）。面板在生成前就返回可达区间，把不可行的参数组合挡在实验之前，而不是跑完再发现。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566928" y="632764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IPF：Deming &amp; Stephan 1940；输出与仿真器现有的状态 CSV + profile Markdown 格式完全一致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1155680" y="632764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0E3B28"/>
          </a:solidFill>
          <a:ln w="12700">
            <a:solidFill>
              <a:srgbClr val="0E3B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32688" y="365760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群体模拟 / GROUP MODE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772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把人口聚合成 cohort，但不退化成「代表性个体」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5358384" cy="1554480"/>
          </a:xfrm>
          <a:prstGeom prst="roundRect">
            <a:avLst>
              <a:gd name="adj" fmla="val 3529"/>
            </a:avLst>
          </a:prstGeom>
          <a:solidFill>
            <a:srgbClr val="E9F0EB"/>
          </a:solidFill>
          <a:ln w="12700">
            <a:solidFill>
              <a:srgbClr val="E9F0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71907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Kirman (1992) 的批判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066544"/>
            <a:ext cx="47914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用一个「代表性个体」替代一群异质个体，会丢掉正是异质性所产生的宏观行为。GAWorld 的 cohort 因此同时携带均值与离散度 —— 只留均值，就恰好落回这条批判。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36208" y="1572768"/>
            <a:ext cx="5358384" cy="1554480"/>
          </a:xfrm>
          <a:prstGeom prst="roundRect">
            <a:avLst>
              <a:gd name="adj" fmla="val 3529"/>
            </a:avLst>
          </a:prstGeom>
          <a:solidFill>
            <a:srgbClr val="F4F7F4"/>
          </a:solidFill>
          <a:ln w="12700">
            <a:solidFill>
              <a:srgbClr val="F4F7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37960" y="171907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三个机制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066544"/>
            <a:ext cx="47914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cohort：年龄段 × 行业 × 户籍，500 人约 30–40 个群体，每群每天 1 次模型调用。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实体化：每天按预算把 focal / event / tail / audit 四类个体提升到完整保真度。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网络耦合：群内零均值的社交图耦合项，让邻居共变在聚合后依然存在。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331012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500 人 × 30 天，逐次实测的模型调用量（mock LLM）</a:t>
            </a:r>
            <a:endParaRPr lang="en-US" sz="12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66928" y="3639312"/>
          <a:ext cx="54864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566928" y="577900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相对全个体模拟分别省 2605× / 49× / 25× / 10×。cohort 层几乎免费，成本几乎完全由实体化预算决定。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355080" y="3310128"/>
            <a:ext cx="5239512" cy="2697480"/>
          </a:xfrm>
          <a:prstGeom prst="roundRect">
            <a:avLst>
              <a:gd name="adj" fmla="val 2034"/>
            </a:avLst>
          </a:prstGeom>
          <a:solidFill>
            <a:srgbClr val="F4F7F4"/>
          </a:solidFill>
          <a:ln w="12700">
            <a:solidFill>
              <a:srgbClr val="F4F7F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629400" y="345643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这不是「省钱」，是「换一个可回答的问题集」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629400" y="385876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931152" y="3858768"/>
            <a:ext cx="4407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人口分布级指标（收入、情绪、需求满足度的分布）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629400" y="427939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931152" y="4279392"/>
            <a:ext cx="4407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政策冲击的处理效应与子群异质性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629400" y="470001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931152" y="4700016"/>
            <a:ext cx="4407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极端个体、破产率、稀有事件占比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6629400" y="5120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87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!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931152" y="5120640"/>
            <a:ext cx="4407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观点扩散、极化、信息级联 —— 必须开网络耦合并跑验证门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6629400" y="554126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84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931152" y="5541264"/>
            <a:ext cx="4407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单个居民的完整生活叙事 —— 请用个体模式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632764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Kirman 1992, Journal of Economic Perspectives 6(2)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1155680" y="632764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0E3B28"/>
          </a:solidFill>
          <a:ln w="12700">
            <a:solidFill>
              <a:srgbClr val="0E3B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32688" y="365760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 / VALIDATION GATE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772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L1–L4：这个近似能回答哪类问题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554480"/>
            <a:ext cx="6126480" cy="932688"/>
          </a:xfrm>
          <a:prstGeom prst="roundRect">
            <a:avLst>
              <a:gd name="adj" fmla="val 5882"/>
            </a:avLst>
          </a:prstGeom>
          <a:solidFill>
            <a:srgbClr val="E9F0EB"/>
          </a:solidFill>
          <a:ln w="12700">
            <a:solidFill>
              <a:srgbClr val="E9F0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627632"/>
            <a:ext cx="5650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· 分布级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1901952"/>
            <a:ext cx="5650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关键变量边缘分布的 Wasserstein-1 距离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157984"/>
            <a:ext cx="5650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比只看均值更严：会抓住「分布塌成一个点但位置正确」的近似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66928" y="2560320"/>
            <a:ext cx="6126480" cy="932688"/>
          </a:xfrm>
          <a:prstGeom prst="roundRect">
            <a:avLst>
              <a:gd name="adj" fmla="val 5882"/>
            </a:avLst>
          </a:prstGeom>
          <a:solidFill>
            <a:srgbClr val="F4F7F4"/>
          </a:solidFill>
          <a:ln w="12700">
            <a:solidFill>
              <a:srgbClr val="F4F7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" y="2633472"/>
            <a:ext cx="5650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 · 网络级 ★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2907792"/>
            <a:ext cx="5650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邻居间状态共变（Moran's I）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3163824"/>
            <a:ext cx="5650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度分布与聚类是静态图的属性，两层天然一样，测了等于同义反复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6928" y="3566160"/>
            <a:ext cx="6126480" cy="932688"/>
          </a:xfrm>
          <a:prstGeom prst="roundRect">
            <a:avLst>
              <a:gd name="adj" fmla="val 5882"/>
            </a:avLst>
          </a:prstGeom>
          <a:solidFill>
            <a:srgbClr val="E9F0EB"/>
          </a:solidFill>
          <a:ln w="12700">
            <a:solidFill>
              <a:srgbClr val="E9F0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" y="3639312"/>
            <a:ext cx="5650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 · 尾部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3913632"/>
            <a:ext cx="5650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极端个体占比、分位区间宽度、首次越阈时间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04672" y="4169664"/>
            <a:ext cx="5650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聚合近似的已知失效模式，正是「保住主体分布、压扁尾部」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4572000"/>
            <a:ext cx="6126480" cy="932688"/>
          </a:xfrm>
          <a:prstGeom prst="roundRect">
            <a:avLst>
              <a:gd name="adj" fmla="val 5882"/>
            </a:avLst>
          </a:prstGeom>
          <a:solidFill>
            <a:srgbClr val="F4F7F4"/>
          </a:solidFill>
          <a:ln w="12700">
            <a:solidFill>
              <a:srgbClr val="F4F7F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4672" y="4645152"/>
            <a:ext cx="5650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 · 因果响应 ★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" y="4919472"/>
            <a:ext cx="5650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同一冲击下 ATE 的方向、量级、子群异质性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5175504"/>
            <a:ext cx="5650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基线全对但 ATE 反号的近似，用于政策研究会得出相反结论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5614416"/>
            <a:ext cx="6126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= 分水岭层。L2 或 L4 不通过，整个门判定为 false，退出码 1，可直接用于 CI 拦截。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155448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阈值来自参照层自身的跨种子噪声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1883664"/>
            <a:ext cx="4389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先把参照层跟它自己跨种子跑几遍，量出 run-to-run 波动，再拿这个波动当尺子 —— 而不是拍一个常数。下图为网络耦合强度的标定（N=100，14 天，实体化预算 20，3 个种子，容差 2.0σ）：</a:t>
            </a:r>
            <a:endParaRPr lang="en-US" sz="105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7059168" y="2761488"/>
          <a:ext cx="461772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Text 22"/>
          <p:cNvSpPr txBox="1"/>
          <p:nvPr/>
        </p:nvSpPr>
        <p:spPr>
          <a:xfrm>
            <a:off x="7223760" y="5138928"/>
            <a:ext cx="43891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太小传不动（欠传播），太大传太猛（过传播），两头都算失败 —— 只有 0.7 通过。但 0.7 不是普适常数：换成真实 LLM 驱动的个体层后必须重新标定。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632764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参照层是逐个体跑同一个透明传染过程，因此该门量的是「聚合成群体」这一步的误差，不等于对完整 12 阶段管线的复现度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1155680" y="632764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0E3B28"/>
          </a:solidFill>
          <a:ln w="12700">
            <a:solidFill>
              <a:srgbClr val="0E3B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32688" y="365760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反事实 / PARALLEL WORLDS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772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同一批人，换一件事，看历史从哪一步分叉</a:t>
            </a:r>
            <a:endParaRPr lang="en-US" sz="2800" dirty="0"/>
          </a:p>
        </p:txBody>
      </p:sp>
      <p:pic>
        <p:nvPicPr>
          <p:cNvPr id="5" name="Image 0" descr="img/c_worl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5464" y="1536192"/>
            <a:ext cx="6739128" cy="4633151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00000">
                <a:alpha val="16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566928" y="1645920"/>
            <a:ext cx="40233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天数、种子、参与居民、模型、并发度是实验级设置，故意不下放到单个世界 —— 保持一致才能把差异归因给事件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每个世界跑在完全隔离的记忆 / 状态 / 日志目录里，轨迹仍可逐帧回放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报告逐步测量每个世界与基准的距离，回答的是「从哪一步开始分叉」，而不只是终局差了多少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「谁被改变了」列出干预真正落在哪些居民身上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内置三个模板：裁员冲击、交通限行强度（剂量反应）、安慰剂对照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632764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世界之间也可以用 config 补丁区分 —— 那对应的是「政策」而不是「事件」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11155680" y="632764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0E3B28"/>
          </a:solidFill>
          <a:ln w="12700">
            <a:solidFill>
              <a:srgbClr val="0E3B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32688" y="365760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测量 / GROUP INTERVIEW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772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把问卷做成不改变被访人口的测量手段</a:t>
            </a:r>
            <a:endParaRPr lang="en-US" sz="2800" dirty="0"/>
          </a:p>
        </p:txBody>
      </p:sp>
      <p:pic>
        <p:nvPicPr>
          <p:cNvPr id="5" name="Image 0" descr="img/c_surv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36192"/>
            <a:ext cx="6739128" cy="4633151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00000">
                <a:alpha val="16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7717536" y="1627632"/>
            <a:ext cx="3877056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一次会话可跨城市，受访者既可以是个体居民，也可以是代表整群人的 cohort 智能体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问题带题型（开放 / 选择 / 是非），选择与是非题被解析回选项标签并统计，而不是留成散文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计数给两种口径：受访者数与代表人数（8 人的 cohort 记 8 人）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交叉分布只画真的分化了样本的维度（城市 / 年龄段 / 性别 / 户籍 / 片区）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关键设计：连续性只存在于会话记录里，不写入智能体记忆 —— 调查不改变被调查的人口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632764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截图为本机实际状态：10 座城市、690 位可采访居民；导出文档含每个人的原话与「哪些没成功」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11155680" y="632764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0E3B28"/>
          </a:solidFill>
          <a:ln w="12700">
            <a:solidFill>
              <a:srgbClr val="0E3B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32688" y="365760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 / GAWORLD-BENCH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772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分层验证套件：拒绝塌缩成一个总分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554480"/>
            <a:ext cx="11027664" cy="694944"/>
          </a:xfrm>
          <a:prstGeom prst="roundRect">
            <a:avLst>
              <a:gd name="adj" fmla="val 7895"/>
            </a:avLst>
          </a:prstGeom>
          <a:solidFill>
            <a:srgbClr val="F4F7F4"/>
          </a:solidFill>
          <a:ln w="12700">
            <a:solidFill>
              <a:srgbClr val="F4F7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554480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1554480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宏观经验拟合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675888" y="1554480"/>
            <a:ext cx="4846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对锚点数据的拟合（恩格尔系数、通勤时长、公交分担率）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641080" y="1554480"/>
            <a:ext cx="2834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弱：近乎在验证自己写进模型的参数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2340864"/>
            <a:ext cx="11027664" cy="694944"/>
          </a:xfrm>
          <a:prstGeom prst="roundRect">
            <a:avLst>
              <a:gd name="adj" fmla="val 7895"/>
            </a:avLst>
          </a:prstGeom>
          <a:solidFill>
            <a:srgbClr val="F4F7F4"/>
          </a:solidFill>
          <a:ln w="12700">
            <a:solidFill>
              <a:srgbClr val="F4F7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2340864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98448" y="2340864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Stylized-facts 涌现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675888" y="2340864"/>
            <a:ext cx="4846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是否自发产生已知的宏观规律性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641080" y="2340864"/>
            <a:ext cx="2834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3127248"/>
            <a:ext cx="11027664" cy="694944"/>
          </a:xfrm>
          <a:prstGeom prst="roundRect">
            <a:avLst>
              <a:gd name="adj" fmla="val 7895"/>
            </a:avLst>
          </a:prstGeom>
          <a:solidFill>
            <a:srgbClr val="E9F0EB"/>
          </a:solidFill>
          <a:ln w="12700">
            <a:solidFill>
              <a:srgbClr val="E9F0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4672" y="3127248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298448" y="3127248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因果 / 反事实有效性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675888" y="3127248"/>
            <a:ext cx="4846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符号正确性 + 安慰剂对照 + 确定性三项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641080" y="3127248"/>
            <a:ext cx="2834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核心：只做一条就做这条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3913632"/>
            <a:ext cx="11027664" cy="694944"/>
          </a:xfrm>
          <a:prstGeom prst="roundRect">
            <a:avLst>
              <a:gd name="adj" fmla="val 7895"/>
            </a:avLst>
          </a:prstGeom>
          <a:solidFill>
            <a:srgbClr val="F4F7F4"/>
          </a:solidFill>
          <a:ln w="12700">
            <a:solidFill>
              <a:srgbClr val="F4F7F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4672" y="3913632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298448" y="3913632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可信度一致性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675888" y="3913632"/>
            <a:ext cx="4846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行为与人设、记忆、世界状态是否自洽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641080" y="3913632"/>
            <a:ext cx="2834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 Track R 完整化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4700016"/>
            <a:ext cx="11027664" cy="694944"/>
          </a:xfrm>
          <a:prstGeom prst="roundRect">
            <a:avLst>
              <a:gd name="adj" fmla="val 7895"/>
            </a:avLst>
          </a:prstGeom>
          <a:solidFill>
            <a:srgbClr val="F4F7F4"/>
          </a:solidFill>
          <a:ln w="12700">
            <a:solidFill>
              <a:srgbClr val="F4F7F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4672" y="4700016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298448" y="4700016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可复现 / 成本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3675888" y="4700016"/>
            <a:ext cx="4846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种子确定性与调用成本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641080" y="4700016"/>
            <a:ext cx="2834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地基 gate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6928" y="5541264"/>
            <a:ext cx="11027664" cy="658368"/>
          </a:xfrm>
          <a:prstGeom prst="roundRect">
            <a:avLst>
              <a:gd name="adj" fmla="val 8333"/>
            </a:avLst>
          </a:prstGeom>
          <a:solidFill>
            <a:srgbClr val="0E3B28"/>
          </a:solidFill>
          <a:ln w="12700">
            <a:solidFill>
              <a:srgbClr val="0E3B2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68680" y="5541264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核心取舍：不给一个复合总分。五条 track 回答的是不同性质的问题，把它们平均掉，等于让最容易刷高的一条掩盖最该被看见的一条。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632764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设计文档 benchmark/GAWORLD_BENCH_DESIGN.md；可运行 harness benchmark/gaworld_bench.py（stdlib only）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11155680" y="632764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0E3B28"/>
          </a:solidFill>
          <a:ln w="12700">
            <a:solidFill>
              <a:srgbClr val="0E3B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32688" y="365760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 / TRACK R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772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「像不像人」认得出但写不出公式 —— rubric-as-reward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554480"/>
            <a:ext cx="5358384" cy="1207008"/>
          </a:xfrm>
          <a:prstGeom prst="roundRect">
            <a:avLst>
              <a:gd name="adj" fmla="val 4545"/>
            </a:avLst>
          </a:prstGeom>
          <a:solidFill>
            <a:srgbClr val="F4F7F4"/>
          </a:solidFill>
          <a:ln w="12700">
            <a:solidFill>
              <a:srgbClr val="F4F7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66420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直接问「1–5 分」会怎样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1993392"/>
            <a:ext cx="4791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分数集中在 3.8–4.2、对流畅文本系统性偏高、换个模型排序就变 —— 因为这个问题没有可验证的判据，模型只能输出语感。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36208" y="1554480"/>
            <a:ext cx="5358384" cy="1207008"/>
          </a:xfrm>
          <a:prstGeom prst="roundRect">
            <a:avLst>
              <a:gd name="adj" fmla="val 4545"/>
            </a:avLst>
          </a:prstGeom>
          <a:solidFill>
            <a:srgbClr val="E9F0EB"/>
          </a:solidFill>
          <a:ln w="12700">
            <a:solidFill>
              <a:srgbClr val="E9F0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37960" y="166420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三条要义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1993392"/>
            <a:ext cx="4791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拆成 checklist：抽象属性 → 一组只问一件事的命题。② 证据绑定：每条打分必须附样本原文，找不到只能弃权。③ 判据外置：每条自带 0/1/2 行为锚定描述与常见失败模式。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2944368"/>
            <a:ext cx="2615184" cy="1005840"/>
          </a:xfrm>
          <a:prstGeom prst="roundRect">
            <a:avLst>
              <a:gd name="adj" fmla="val 5455"/>
            </a:avLst>
          </a:prstGeom>
          <a:solidFill>
            <a:srgbClr val="F4F7F4"/>
          </a:solidFill>
          <a:ln w="12700">
            <a:solidFill>
              <a:srgbClr val="F4F7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68096" y="303580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" y="334670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个体拟人性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68096" y="36210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项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64992" y="2944368"/>
            <a:ext cx="2615184" cy="1005840"/>
          </a:xfrm>
          <a:prstGeom prst="roundRect">
            <a:avLst>
              <a:gd name="adj" fmla="val 5455"/>
            </a:avLst>
          </a:prstGeom>
          <a:solidFill>
            <a:srgbClr val="F4F7F4"/>
          </a:solidFill>
          <a:ln w="12700">
            <a:solidFill>
              <a:srgbClr val="F4F7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66160" y="303580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R2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566160" y="334670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演化能力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36210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项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63056" y="2944368"/>
            <a:ext cx="2615184" cy="1005840"/>
          </a:xfrm>
          <a:prstGeom prst="roundRect">
            <a:avLst>
              <a:gd name="adj" fmla="val 5455"/>
            </a:avLst>
          </a:prstGeom>
          <a:solidFill>
            <a:srgbClr val="F4F7F4"/>
          </a:solidFill>
          <a:ln w="12700">
            <a:solidFill>
              <a:srgbClr val="F4F7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64224" y="303580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364224" y="334670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社会真实性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364224" y="36210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项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961120" y="2944368"/>
            <a:ext cx="2615184" cy="1005840"/>
          </a:xfrm>
          <a:prstGeom prst="roundRect">
            <a:avLst>
              <a:gd name="adj" fmla="val 5455"/>
            </a:avLst>
          </a:prstGeom>
          <a:solidFill>
            <a:srgbClr val="F4F7F4"/>
          </a:solidFill>
          <a:ln w="12700">
            <a:solidFill>
              <a:srgbClr val="F4F7F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62288" y="303580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162288" y="334670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世界一致性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9162288" y="36210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项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6928" y="4133088"/>
            <a:ext cx="11027664" cy="1444752"/>
          </a:xfrm>
          <a:prstGeom prst="roundRect">
            <a:avLst>
              <a:gd name="adj" fmla="val 3797"/>
            </a:avLst>
          </a:prstGeom>
          <a:solidFill>
            <a:srgbClr val="0E3B28"/>
          </a:solidFill>
          <a:ln w="12700">
            <a:solidFill>
              <a:srgbClr val="0E3B2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68680" y="4261104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核心防线：不是「让 LLM 打分更准」，而是「证明这套打分能区分真假」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68680" y="4645152"/>
            <a:ext cx="10424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消融判别力：人为破坏样本（打乱时序、抹掉记忆引用、替换人设），任何一条 rubric 若不能把被破坏的样本判低，一律作废。弃权率本身作为指标上报 —— 弃权率高通常意味着数据字段缺失，而不是模型差。五种评测单元（agent-day / 轨迹 / 对偶 / 世界切片 / 访谈）按分层随机抽样，抽样种子与仿真种子分离并记录。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632764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rubric-as-reward 的方法学参考 Gunjal et al. 2025, arXiv:2507.17746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11155680" y="632764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0E3B28"/>
          </a:solidFill>
          <a:ln w="12700">
            <a:solidFill>
              <a:srgbClr val="0E3B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32688" y="365760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当前状态 / HONEST SCORECARD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772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现在的结论是：还不能下结论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554480"/>
            <a:ext cx="5358384" cy="2286000"/>
          </a:xfrm>
          <a:prstGeom prst="roundRect">
            <a:avLst>
              <a:gd name="adj" fmla="val 2400"/>
            </a:avLst>
          </a:prstGeom>
          <a:solidFill>
            <a:srgbClr val="F4F7F4"/>
          </a:solidFill>
          <a:ln w="12700">
            <a:solidFill>
              <a:srgbClr val="F4F7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68249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GAWorld-Bench Scorecard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2048256"/>
            <a:ext cx="2286000" cy="420624"/>
          </a:xfrm>
          <a:prstGeom prst="roundRect">
            <a:avLst>
              <a:gd name="adj" fmla="val 13043"/>
            </a:avLst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04825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trust gate: UNVERIFIED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578608"/>
            <a:ext cx="479145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Track A/B/D 未实现；Track C 的实跑因模型路由失败未产出；Track E 的确定性并入 C。Track R 维度分仅 R4 有读数（0.441，门槛 0.8，覆盖度 0.475，弃权率 0.737），且未做判别力检验 —— 按规则不得进对外材料。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36208" y="1554480"/>
            <a:ext cx="5358384" cy="2286000"/>
          </a:xfrm>
          <a:prstGeom prst="roundRect">
            <a:avLst>
              <a:gd name="adj" fmla="val 2400"/>
            </a:avLst>
          </a:prstGeom>
          <a:solidFill>
            <a:srgbClr val="E9F0EB"/>
          </a:solidFill>
          <a:ln w="12700">
            <a:solidFill>
              <a:srgbClr val="E9F0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168249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三态 gate 的意义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37960" y="212140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12280" y="2084832"/>
            <a:ext cx="4526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OK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证据充分，可以据此下结论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37960" y="2688336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12280" y="2651760"/>
            <a:ext cx="4526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UNVERIFIED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数据不足或未做判别力检验 —— 不是「不合格」，是「还不知道」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37960" y="3255264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A8402C"/>
          </a:solidFill>
          <a:ln w="12700">
            <a:solidFill>
              <a:srgbClr val="A8402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12280" y="3218688"/>
            <a:ext cx="4526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UNTRUSTWORTHY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判别力检验不通过，分数本身不可信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4041648"/>
            <a:ext cx="11027664" cy="1719072"/>
          </a:xfrm>
          <a:prstGeom prst="roundRect">
            <a:avLst>
              <a:gd name="adj" fmla="val 3191"/>
            </a:avLst>
          </a:prstGeom>
          <a:solidFill>
            <a:srgbClr val="0E3B28"/>
          </a:solidFill>
          <a:ln w="12700">
            <a:solidFill>
              <a:srgbClr val="0E3B2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4169664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为什么把这一页放进汇报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4553712"/>
            <a:ext cx="104241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8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一个已经实现了闭环经济、家庭、人格、群体模拟与平行世界的系统，最容易犯的错误是拿功能清单当作证据。GAWorld 的设计立场是：功能不构成结论，判定套件才构成结论。因此 scorecard 显示 UNVERIFIED 时，它就是 UNVERIFIED —— 先前一次 Track C「效应量近乎为零」的判断，后来被发现是度量口径（全程平均稀释信号 5–7 倍）与裁员事件未接经济冲击两个 bug 共同造成的；改用事件后窗口并修好接线之后效应量回到 0.13–0.19。这类修正正是分层套件存在的理由。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632764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benchmark/results/scorecard.md 与 rubric_scorecard.md 的实际读数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0" y="632764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0E3B28"/>
          </a:solidFill>
          <a:ln w="12700">
            <a:solidFill>
              <a:srgbClr val="0E3B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32688" y="365760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/ EXPERIMENTS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772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已跑通的对照实验与初步发现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11027664" cy="1225296"/>
          </a:xfrm>
          <a:prstGeom prst="roundRect">
            <a:avLst>
              <a:gd name="adj" fmla="val 4478"/>
            </a:avLst>
          </a:prstGeom>
          <a:solidFill>
            <a:srgbClr val="F4F7F4"/>
          </a:solidFill>
          <a:ln w="12700">
            <a:solidFill>
              <a:srgbClr val="F4F7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824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EXP-INFO-001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95681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谣言传播与干预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04288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Control / 谣言注入 A / 谣言+多样性干预 B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3154680" y="168249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1920240"/>
            <a:ext cx="4434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干预奖励损失从 −4.5% 压到 −0.7%，缓冲约 3.8 个百分点；高平台依赖（0.65）的个体跨观点暴露恒为 0，呈现信息孤岛特征。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818120" y="168249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84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7818120" y="1920240"/>
            <a:ext cx="3520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misinformation_risk 全程为 0，该指标疑未被正确激活；实跑仅 1–2 天，不足以评估传播动力学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2944368"/>
            <a:ext cx="11027664" cy="1225296"/>
          </a:xfrm>
          <a:prstGeom prst="roundRect">
            <a:avLst>
              <a:gd name="adj" fmla="val 4478"/>
            </a:avLst>
          </a:prstGeom>
          <a:solidFill>
            <a:srgbClr val="F4F7F4"/>
          </a:solidFill>
          <a:ln w="12700">
            <a:solidFill>
              <a:srgbClr val="F4F7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0540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EXP-POL-001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32841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极化与回音壁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3675888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Control-baseline / 跨观点曝光 +0.3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3154680" y="305409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3154680" y="3291840"/>
            <a:ext cx="4434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 14 天、实跑 5 天；Control 组 109 条记录、Treatment 组 85 条。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818120" y="305409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84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7818120" y="3291840"/>
            <a:ext cx="3520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样本量与时长均不足以支撑极化指数的统计推断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6928" y="4315968"/>
            <a:ext cx="11027664" cy="1225296"/>
          </a:xfrm>
          <a:prstGeom prst="roundRect">
            <a:avLst>
              <a:gd name="adj" fmla="val 4478"/>
            </a:avLst>
          </a:prstGeom>
          <a:solidFill>
            <a:srgbClr val="F4F7F4"/>
          </a:solidFill>
          <a:ln w="12700">
            <a:solidFill>
              <a:srgbClr val="F4F7F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44256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B1 接线修复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70001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裁员事件 → 经济冲击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5047488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compare-event 对照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3154680" y="442569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3154680" y="4663440"/>
            <a:ext cx="4434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原实现中 policy_events 只进感知文本、不触发经济冲击；新增 _active_event_layoff 与日边界接线后，裁员真正削减收入。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818120" y="442569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84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7818120" y="4663440"/>
            <a:ext cx="3520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econ_security 是慢 EMA、stress 由行为层更新，需 ≥30 天仿真才会跟随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632764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结果与局限同时列出：这些数字目前只支持「机制跑通」，不支持任何关于真实社会的定量主张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11155680" y="632764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0E3B28"/>
          </a:solidFill>
          <a:ln w="12700">
            <a:solidFill>
              <a:srgbClr val="0E3B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32688" y="365760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可复现性 / REPRODUCIBILITY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772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让别人能重跑，是结论成立的前提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554480"/>
            <a:ext cx="1700784" cy="1051560"/>
          </a:xfrm>
          <a:prstGeom prst="roundRect">
            <a:avLst>
              <a:gd name="adj" fmla="val 5217"/>
            </a:avLst>
          </a:prstGeom>
          <a:solidFill>
            <a:srgbClr val="E9F0EB"/>
          </a:solidFill>
          <a:ln w="12700">
            <a:solidFill>
              <a:srgbClr val="E9F0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664208"/>
            <a:ext cx="1700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223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139696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模块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32304" y="1554480"/>
            <a:ext cx="1700784" cy="1051560"/>
          </a:xfrm>
          <a:prstGeom prst="roundRect">
            <a:avLst>
              <a:gd name="adj" fmla="val 5217"/>
            </a:avLst>
          </a:prstGeom>
          <a:solidFill>
            <a:srgbClr val="E9F0EB"/>
          </a:solidFill>
          <a:ln w="12700">
            <a:solidFill>
              <a:srgbClr val="E9F0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32304" y="1664208"/>
            <a:ext cx="1700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≈70k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432304" y="2139696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行核心代码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0" y="1554480"/>
            <a:ext cx="1700784" cy="1051560"/>
          </a:xfrm>
          <a:prstGeom prst="roundRect">
            <a:avLst>
              <a:gd name="adj" fmla="val 5217"/>
            </a:avLst>
          </a:prstGeom>
          <a:solidFill>
            <a:srgbClr val="E9F0EB"/>
          </a:solidFill>
          <a:ln w="12700">
            <a:solidFill>
              <a:srgbClr val="E9F0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97680" y="1664208"/>
            <a:ext cx="1700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161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297680" y="2139696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测试文件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63056" y="1554480"/>
            <a:ext cx="1700784" cy="1051560"/>
          </a:xfrm>
          <a:prstGeom prst="roundRect">
            <a:avLst>
              <a:gd name="adj" fmla="val 5217"/>
            </a:avLst>
          </a:prstGeom>
          <a:solidFill>
            <a:srgbClr val="E9F0EB"/>
          </a:solidFill>
          <a:ln w="12700">
            <a:solidFill>
              <a:srgbClr val="E9F0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63056" y="1664208"/>
            <a:ext cx="1700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6163056" y="2139696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座已建城市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28432" y="1554480"/>
            <a:ext cx="1700784" cy="1051560"/>
          </a:xfrm>
          <a:prstGeom prst="roundRect">
            <a:avLst>
              <a:gd name="adj" fmla="val 5217"/>
            </a:avLst>
          </a:prstGeom>
          <a:solidFill>
            <a:srgbClr val="E9F0EB"/>
          </a:solidFill>
          <a:ln w="12700">
            <a:solidFill>
              <a:srgbClr val="E9F0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28432" y="1664208"/>
            <a:ext cx="1700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8028432" y="2139696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篇设计 / 教程文档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893808" y="1554480"/>
            <a:ext cx="1700784" cy="1051560"/>
          </a:xfrm>
          <a:prstGeom prst="roundRect">
            <a:avLst>
              <a:gd name="adj" fmla="val 5217"/>
            </a:avLst>
          </a:prstGeom>
          <a:solidFill>
            <a:srgbClr val="E9F0EB"/>
          </a:solidFill>
          <a:ln w="12700">
            <a:solidFill>
              <a:srgbClr val="E9F0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893808" y="1664208"/>
            <a:ext cx="1700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~150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9893808" y="2139696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个可编辑配置旋钮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6928" y="2852928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8680" y="2798064"/>
            <a:ext cx="10744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确定性种子贯穿全链路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人口合成、cohort 划分、抽样、仿真共享显式种子；同一地名离线生成永远得到同一座城市。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66928" y="3511296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68680" y="3456432"/>
            <a:ext cx="10744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实验设置与世界分离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天数 / 种子 / 居民 / 模型是实验级参数，不下放到单个世界，避免把差异归因错地方。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66928" y="4169664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68680" y="4114800"/>
            <a:ext cx="10744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产物即证据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 CSV、profile Markdown、episodes JSONL、经济流水、生成 manifest 全部落盘，面板里可直接点开。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66928" y="4828032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68680" y="4773168"/>
            <a:ext cx="10744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能力声明式弃权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 rubric item 声明 requires；缺产物则全部弃权而非记 0 —— 缺数据不是模型的失败。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66928" y="548640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68680" y="5431536"/>
            <a:ext cx="10744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验证门可进 CI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分水岭层不通过时退出码非零，近似退化会被自动拦下，而不是等人读 z 值。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566928" y="632764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ODD 协议（Grimm et al. 2020）是下一步的文档化目标：把模型描述标准化，才谈得上第三方重复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11155680" y="632764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E3B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32688" y="365760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CC7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局限与路线图 / LIMITATIONS &amp; ROADMAP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772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已知的边界，以及接下来要补的证据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572768"/>
            <a:ext cx="5358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C7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已知局限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02996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9536" y="1975104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8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Track A 近乎循环论证：拟合的是自己写进模型的参数，强证据必须看 B / C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274320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59536" y="2688336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8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验证门量的是「聚合成群体」的误差，不等于对完整 12 阶段管线的复现度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3456432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9536" y="3401568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8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网络耦合 0.7 是对参照过程标定出来的，换成真实 LLM 个体层必须重标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4169664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9536" y="411480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8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快进与确定性认知模式会绕过 episodes 与真实规划，不能用于 Track 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4882896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9536" y="4828032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8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现有实验的仿真时长与样本量都不足以支撑定量社会学主张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1572768"/>
            <a:ext cx="5239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C7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路线图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355080" y="1993392"/>
            <a:ext cx="566928" cy="256032"/>
          </a:xfrm>
          <a:prstGeom prst="roundRect">
            <a:avLst>
              <a:gd name="adj" fmla="val 21429"/>
            </a:avLst>
          </a:prstGeom>
          <a:solidFill>
            <a:srgbClr val="16523A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55080" y="199339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C7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7040880" y="1975104"/>
            <a:ext cx="4553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8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Track C 的实跑打通并做足 ≥30 天：慢 EMA 变量需要足够长的窗口才会跟随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55080" y="2706624"/>
            <a:ext cx="566928" cy="256032"/>
          </a:xfrm>
          <a:prstGeom prst="roundRect">
            <a:avLst>
              <a:gd name="adj" fmla="val 21429"/>
            </a:avLst>
          </a:prstGeom>
          <a:solidFill>
            <a:srgbClr val="16523A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55080" y="270662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C7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2688336"/>
            <a:ext cx="4553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8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补齐 Track R 的消融判别力检验，把 UNVERIFIED 变成 OK 或 UNTRUSTWORTHY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55080" y="3419856"/>
            <a:ext cx="566928" cy="256032"/>
          </a:xfrm>
          <a:prstGeom prst="roundRect">
            <a:avLst>
              <a:gd name="adj" fmla="val 21429"/>
            </a:avLst>
          </a:prstGeom>
          <a:solidFill>
            <a:srgbClr val="16523A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55080" y="341985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C7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7040880" y="3401568"/>
            <a:ext cx="4553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8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 Track A / B / D，并按 ODD 协议产出标准化模型描述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355080" y="4133088"/>
            <a:ext cx="566928" cy="256032"/>
          </a:xfrm>
          <a:prstGeom prst="roundRect">
            <a:avLst>
              <a:gd name="adj" fmla="val 21429"/>
            </a:avLst>
          </a:prstGeom>
          <a:solidFill>
            <a:srgbClr val="16523A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55080" y="413308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C7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7040880" y="4114800"/>
            <a:ext cx="4553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8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在真实 LLM 个体层上重新标定网络耦合，给群体模式一个可迁移的默认值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355080" y="4846320"/>
            <a:ext cx="566928" cy="256032"/>
          </a:xfrm>
          <a:prstGeom prst="roundRect">
            <a:avLst>
              <a:gd name="adj" fmla="val 21429"/>
            </a:avLst>
          </a:prstGeom>
          <a:solidFill>
            <a:srgbClr val="16523A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55080" y="484632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C7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7040880" y="4828032"/>
            <a:ext cx="4553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8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把锚点数据从城镇口径扩到多城市，用 B 轨的 stylized facts 作主证据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11155680" y="632764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0E3B28"/>
          </a:solidFill>
          <a:ln w="12700">
            <a:solidFill>
              <a:srgbClr val="0E3B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32688" y="365760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参考文献 / REFERENCES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772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相关研究与方法学出处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81328"/>
            <a:ext cx="5440680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生成式智能体与 LLM 社会仿真</a:t>
            </a:r>
            <a:endParaRPr lang="en-US" sz="110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[1] Park, J.S., O'Brien, J., Cai, C.J., Morris, M.R., Liang, P., Bernstein, M.S. Generative Agents: Interactive Simulacra of Human Behavior. UIST '23. arXiv:2304.03442</a:t>
            </a:r>
            <a:endParaRPr lang="en-US" sz="110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[2] Park, J.S., Zou, C.Q., Shaw, A., et al. Generative Agent Simulations of 1,000 People. 2024. arXiv:2411.10109</a:t>
            </a:r>
            <a:endParaRPr lang="en-US" sz="110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[3] AgentSociety: Large-Scale Simulation of LLM-Driven Generative Agents. 2025. arXiv:2502.08691</a:t>
            </a:r>
            <a:endParaRPr lang="en-US" sz="110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[4] Yang, Z., et al. OASIS: Open Agent Social Interaction Simulations with One Million Agents. 2024. arXiv:2411.11581</a:t>
            </a:r>
            <a:endParaRPr lang="en-US" sz="110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[5] Agent-Kernel: A MicroKernel Multi-Agent System Framework for Adaptive Social Simulation Powered by LLMs. 2025. arXiv:2512.01610</a:t>
            </a:r>
            <a:endParaRPr lang="en-US" sz="110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[6] Argyle, L.P., et al. Out of One, Many: Using Language Models to Simulate Human Samples. Political Analysis, 31(3), 2023</a:t>
            </a:r>
            <a:endParaRPr lang="en-US" sz="110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[7] Aher, G., Arriaga, R.I., Kalai, A.T. Using LLMs to Simulate Multiple Humans and Replicate Human Subject Studies. ICML 2023</a:t>
            </a:r>
            <a:endParaRPr lang="en-US" sz="110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[8] Horton, J.J. Large Language Models as Simulated Economic Agents. NBER WP 31122, 2023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481328"/>
            <a:ext cx="5303520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ABM 方法论与经验验证</a:t>
            </a:r>
            <a:endParaRPr lang="en-US" sz="110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[9] Schelling, T.C. Dynamic Models of Segregation. J. Mathematical Sociology, 1(2), 1971</a:t>
            </a:r>
            <a:endParaRPr lang="en-US" sz="110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[10] Epstein, J.M., Axtell, R. Growing Artificial Societies. MIT Press, 1996</a:t>
            </a:r>
            <a:endParaRPr lang="en-US" sz="110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[11] Kirman, A.P. Whom or What Does the Representative Individual Represent? J. Economic Perspectives, 6(2), 1992</a:t>
            </a:r>
            <a:endParaRPr lang="en-US" sz="110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[12] Grimm, V., et al. Pattern-Oriented Modeling of Agent-Based Complex Systems. Science, 310, 2005</a:t>
            </a:r>
            <a:endParaRPr lang="en-US" sz="110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[13] Grimm, V., et al. The ODD Protocol… A Second Update. JASSS, 23(2):7, 2020</a:t>
            </a:r>
            <a:endParaRPr lang="en-US" sz="110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[14] Windrum, P., Fagiolo, G., Moneta, A. Empirical Validation of Agent-Based Models. JASSS, 10(2):8, 2007</a:t>
            </a:r>
            <a:endParaRPr lang="en-US" sz="110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[15] Farmer, J.D., Axtell, R.L. Agent-Based Modeling in Economics and Finance. J. Economic Literature, 63(1), 2025</a:t>
            </a:r>
            <a:endParaRPr lang="en-US" sz="1100" dirty="0"/>
          </a:p>
          <a:p>
            <a:pPr indent="0" marL="0">
              <a:lnSpc>
                <a:spcPct val="112000"/>
              </a:lnSpc>
              <a:spcBef>
                <a:spcPts val="900"/>
              </a:spcBef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心理结构、社会网络与评测</a:t>
            </a:r>
            <a:endParaRPr lang="en-US" sz="110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[16] Roberts, B.W., DelVecchio, W.F. The Rank-Order Consistency of Personality Traits. Psychological Bulletin, 126(1), 2000</a:t>
            </a:r>
            <a:endParaRPr lang="en-US" sz="110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[17] Dunbar, R.I.M. Neocortex Size as a Constraint on Group Size in Primates. J. Human Evolution, 22(6), 1992</a:t>
            </a:r>
            <a:endParaRPr lang="en-US" sz="110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[18] Deming, W.E., Stephan, F.F. On a Least Squares Adjustment of a Sampled Frequency Table. Ann. Math. Statist., 11(4), 1940</a:t>
            </a:r>
            <a:endParaRPr lang="en-US" sz="110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1F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[19] Gunjal, A., et al. Rubrics as Rewards: Reinforcement Learning Beyond Verifiable Domains. 2025. arXiv:2507.17746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32764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GAWorld 项目介绍</dc:title>
  <dc:subject>PptxGenJS Presentation</dc:subject>
  <dc:creator>Chao Wu</dc:creator>
  <cp:lastModifiedBy>Chao Wu</cp:lastModifiedBy>
  <cp:revision>1</cp:revision>
  <dcterms:created xsi:type="dcterms:W3CDTF">2026-09-18T04:43:19Z</dcterms:created>
  <dcterms:modified xsi:type="dcterms:W3CDTF">2026-09-18T04:43:19Z</dcterms:modified>
</cp:coreProperties>
</file>